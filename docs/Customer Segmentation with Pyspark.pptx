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60" r:id="rId4"/>
    <p:sldId id="258" r:id="rId5"/>
    <p:sldId id="262" r:id="rId6"/>
    <p:sldId id="261" r:id="rId7"/>
    <p:sldId id="263" r:id="rId8"/>
    <p:sldId id="264" r:id="rId9"/>
    <p:sldId id="265" r:id="rId10"/>
    <p:sldId id="266" r:id="rId11"/>
    <p:sldId id="272" r:id="rId12"/>
    <p:sldId id="273" r:id="rId13"/>
    <p:sldId id="267" r:id="rId14"/>
    <p:sldId id="268" r:id="rId15"/>
    <p:sldId id="274" r:id="rId16"/>
    <p:sldId id="275" r:id="rId17"/>
    <p:sldId id="276" r:id="rId18"/>
    <p:sldId id="277" r:id="rId19"/>
    <p:sldId id="278" r:id="rId20"/>
    <p:sldId id="269" r:id="rId21"/>
    <p:sldId id="270" r:id="rId22"/>
    <p:sldId id="279" r:id="rId23"/>
    <p:sldId id="25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8" autoAdjust="0"/>
    <p:restoredTop sz="94660"/>
  </p:normalViewPr>
  <p:slideViewPr>
    <p:cSldViewPr snapToGrid="0">
      <p:cViewPr>
        <p:scale>
          <a:sx n="63" d="100"/>
          <a:sy n="63" d="100"/>
        </p:scale>
        <p:origin x="64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4/22/2026</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17812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4/22/2026</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245925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4/22/2026</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02532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4/22/2026</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754825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4/22/2026</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25456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4/22/2026</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809299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4/22/2026</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376098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4/22/2026</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491471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4/22/2026</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259205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4/22/2026</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8109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4/22/2026</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721698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4/22/2026</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3544367949"/>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996DFAFB-BCE1-4BEC-82FB-D574234DEF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13" name="Top Left">
            <a:extLst>
              <a:ext uri="{FF2B5EF4-FFF2-40B4-BE49-F238E27FC236}">
                <a16:creationId xmlns:a16="http://schemas.microsoft.com/office/drawing/2014/main" id="{F99A87B6-0764-47AD-BF24-B54A16F944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14" name="Freeform: Shape 13">
              <a:extLst>
                <a:ext uri="{FF2B5EF4-FFF2-40B4-BE49-F238E27FC236}">
                  <a16:creationId xmlns:a16="http://schemas.microsoft.com/office/drawing/2014/main" id="{C50E14B7-3770-407C-A359-030533E14B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5" name="Freeform: Shape 14">
              <a:extLst>
                <a:ext uri="{FF2B5EF4-FFF2-40B4-BE49-F238E27FC236}">
                  <a16:creationId xmlns:a16="http://schemas.microsoft.com/office/drawing/2014/main" id="{4F5BFEC0-D7AC-4F30-9697-1A7804BE75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1D47A7E9-69C2-466A-8E0A-1E82502C7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37B64B2C-0074-40A5-AD7B-10234F3673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B4EAC4AF-90F7-4D5B-9D52-8B5CC855B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19" name="Freeform: Shape 18">
              <a:extLst>
                <a:ext uri="{FF2B5EF4-FFF2-40B4-BE49-F238E27FC236}">
                  <a16:creationId xmlns:a16="http://schemas.microsoft.com/office/drawing/2014/main" id="{FC772208-699E-460A-B31E-D49D3EFE3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20" name="Freeform: Shape 19">
              <a:extLst>
                <a:ext uri="{FF2B5EF4-FFF2-40B4-BE49-F238E27FC236}">
                  <a16:creationId xmlns:a16="http://schemas.microsoft.com/office/drawing/2014/main" id="{899AB563-7EE7-4EB1-A6C7-E885E47748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2A4ABF96-0400-4F13-B053-5AB9AB2902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36D0778B-7CB8-94EC-EDC4-D24B527EC30A}"/>
              </a:ext>
            </a:extLst>
          </p:cNvPr>
          <p:cNvSpPr>
            <a:spLocks noGrp="1"/>
          </p:cNvSpPr>
          <p:nvPr>
            <p:ph type="ctrTitle"/>
          </p:nvPr>
        </p:nvSpPr>
        <p:spPr>
          <a:xfrm>
            <a:off x="1005653" y="744909"/>
            <a:ext cx="4798447" cy="3155419"/>
          </a:xfrm>
        </p:spPr>
        <p:txBody>
          <a:bodyPr anchor="b">
            <a:normAutofit/>
          </a:bodyPr>
          <a:lstStyle/>
          <a:p>
            <a:pPr algn="l">
              <a:lnSpc>
                <a:spcPct val="90000"/>
              </a:lnSpc>
            </a:pPr>
            <a:r>
              <a:rPr lang="en-US" sz="4200" b="0" i="0" dirty="0">
                <a:effectLst/>
                <a:latin typeface="Söhne"/>
              </a:rPr>
              <a:t>Customer Segmentation with Pyspark</a:t>
            </a:r>
            <a:endParaRPr lang="en-US" sz="4200" dirty="0"/>
          </a:p>
        </p:txBody>
      </p:sp>
      <p:sp>
        <p:nvSpPr>
          <p:cNvPr id="3" name="Subtitle 2">
            <a:extLst>
              <a:ext uri="{FF2B5EF4-FFF2-40B4-BE49-F238E27FC236}">
                <a16:creationId xmlns:a16="http://schemas.microsoft.com/office/drawing/2014/main" id="{F1DAB05A-C498-7A0A-D4FB-00CCE15DAC67}"/>
              </a:ext>
            </a:extLst>
          </p:cNvPr>
          <p:cNvSpPr>
            <a:spLocks noGrp="1"/>
          </p:cNvSpPr>
          <p:nvPr>
            <p:ph type="subTitle" idx="1"/>
          </p:nvPr>
        </p:nvSpPr>
        <p:spPr>
          <a:xfrm>
            <a:off x="199285" y="4871209"/>
            <a:ext cx="6195372" cy="1015910"/>
          </a:xfrm>
        </p:spPr>
        <p:txBody>
          <a:bodyPr anchor="t">
            <a:normAutofit/>
          </a:bodyPr>
          <a:lstStyle/>
          <a:p>
            <a:pPr algn="l"/>
            <a:r>
              <a:rPr lang="en-US" sz="2200" dirty="0"/>
              <a:t>KRISHNA CHAITHANYA REDDY KUNCHAM</a:t>
            </a:r>
          </a:p>
        </p:txBody>
      </p:sp>
      <p:pic>
        <p:nvPicPr>
          <p:cNvPr id="4" name="Picture 3">
            <a:extLst>
              <a:ext uri="{FF2B5EF4-FFF2-40B4-BE49-F238E27FC236}">
                <a16:creationId xmlns:a16="http://schemas.microsoft.com/office/drawing/2014/main" id="{2D006184-2B9C-AFD9-9C92-B323367CDC38}"/>
              </a:ext>
            </a:extLst>
          </p:cNvPr>
          <p:cNvPicPr>
            <a:picLocks noChangeAspect="1"/>
          </p:cNvPicPr>
          <p:nvPr/>
        </p:nvPicPr>
        <p:blipFill rotWithShape="1">
          <a:blip r:embed="rId2"/>
          <a:srcRect l="20747" r="25277" b="2"/>
          <a:stretch/>
        </p:blipFill>
        <p:spPr>
          <a:xfrm>
            <a:off x="5996628" y="10"/>
            <a:ext cx="6195372" cy="6857990"/>
          </a:xfrm>
          <a:prstGeom prst="rect">
            <a:avLst/>
          </a:prstGeom>
        </p:spPr>
      </p:pic>
      <p:grpSp>
        <p:nvGrpSpPr>
          <p:cNvPr id="23" name="Cross">
            <a:extLst>
              <a:ext uri="{FF2B5EF4-FFF2-40B4-BE49-F238E27FC236}">
                <a16:creationId xmlns:a16="http://schemas.microsoft.com/office/drawing/2014/main" id="{5C0E6139-8A19-4905-87E2-E547D7B7F1A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37192" y="3369564"/>
            <a:ext cx="118872" cy="118872"/>
            <a:chOff x="1175347" y="3733800"/>
            <a:chExt cx="118872" cy="118872"/>
          </a:xfrm>
        </p:grpSpPr>
        <p:cxnSp>
          <p:nvCxnSpPr>
            <p:cNvPr id="24" name="Straight Connector 23">
              <a:extLst>
                <a:ext uri="{FF2B5EF4-FFF2-40B4-BE49-F238E27FC236}">
                  <a16:creationId xmlns:a16="http://schemas.microsoft.com/office/drawing/2014/main" id="{BC05FFBD-B86A-4BD3-A147-FA95CE03CF3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25" name="Straight Connector 24">
              <a:extLst>
                <a:ext uri="{FF2B5EF4-FFF2-40B4-BE49-F238E27FC236}">
                  <a16:creationId xmlns:a16="http://schemas.microsoft.com/office/drawing/2014/main" id="{EB69F8B1-78FB-4562-8A0D-8D29636755E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grpSp>
        <p:nvGrpSpPr>
          <p:cNvPr id="27" name="Bottom Right">
            <a:extLst>
              <a:ext uri="{FF2B5EF4-FFF2-40B4-BE49-F238E27FC236}">
                <a16:creationId xmlns:a16="http://schemas.microsoft.com/office/drawing/2014/main" id="{EE8A2E90-75F0-4F59-AE03-FE737F410E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grpSp>
          <p:nvGrpSpPr>
            <p:cNvPr id="37" name="Graphic 157">
              <a:extLst>
                <a:ext uri="{FF2B5EF4-FFF2-40B4-BE49-F238E27FC236}">
                  <a16:creationId xmlns:a16="http://schemas.microsoft.com/office/drawing/2014/main" id="{291613E8-1172-4437-97E9-F15A295649C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38" name="Freeform: Shape 37">
                <a:extLst>
                  <a:ext uri="{FF2B5EF4-FFF2-40B4-BE49-F238E27FC236}">
                    <a16:creationId xmlns:a16="http://schemas.microsoft.com/office/drawing/2014/main" id="{CE1404A3-DA0A-451F-80F9-341A400102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39" name="Freeform: Shape 38">
                <a:extLst>
                  <a:ext uri="{FF2B5EF4-FFF2-40B4-BE49-F238E27FC236}">
                    <a16:creationId xmlns:a16="http://schemas.microsoft.com/office/drawing/2014/main" id="{6D9F30DE-11BA-476B-B25D-CED39DBB6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2" name="Freeform: Shape 31">
                <a:extLst>
                  <a:ext uri="{FF2B5EF4-FFF2-40B4-BE49-F238E27FC236}">
                    <a16:creationId xmlns:a16="http://schemas.microsoft.com/office/drawing/2014/main" id="{253755C4-9D54-4D38-856A-7D1D31BC46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33" name="Freeform: Shape 32">
                <a:extLst>
                  <a:ext uri="{FF2B5EF4-FFF2-40B4-BE49-F238E27FC236}">
                    <a16:creationId xmlns:a16="http://schemas.microsoft.com/office/drawing/2014/main" id="{F2D176F7-5471-4C65-B496-F05544AF3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4" name="Freeform: Shape 33">
                <a:extLst>
                  <a:ext uri="{FF2B5EF4-FFF2-40B4-BE49-F238E27FC236}">
                    <a16:creationId xmlns:a16="http://schemas.microsoft.com/office/drawing/2014/main" id="{E3541E62-142A-4078-8B35-723AF8B137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35" name="Freeform: Shape 34">
                <a:extLst>
                  <a:ext uri="{FF2B5EF4-FFF2-40B4-BE49-F238E27FC236}">
                    <a16:creationId xmlns:a16="http://schemas.microsoft.com/office/drawing/2014/main" id="{B2037584-8C21-4B8F-9EC5-5F978F32ED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36" name="Freeform: Shape 35">
                <a:extLst>
                  <a:ext uri="{FF2B5EF4-FFF2-40B4-BE49-F238E27FC236}">
                    <a16:creationId xmlns:a16="http://schemas.microsoft.com/office/drawing/2014/main" id="{318287BF-F368-4F91-A36C-A729B478EF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40" name="Freeform: Shape 39">
              <a:extLst>
                <a:ext uri="{FF2B5EF4-FFF2-40B4-BE49-F238E27FC236}">
                  <a16:creationId xmlns:a16="http://schemas.microsoft.com/office/drawing/2014/main" id="{A54A80ED-1507-4424-AE0D-E8B52DAC01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675893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1F38B-A96F-344A-9E8A-10F60D2A8939}"/>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A5A5CA1E-06B2-9EA9-7DDA-9C8944140AEA}"/>
              </a:ext>
            </a:extLst>
          </p:cNvPr>
          <p:cNvSpPr>
            <a:spLocks noGrp="1"/>
          </p:cNvSpPr>
          <p:nvPr>
            <p:ph idx="1"/>
          </p:nvPr>
        </p:nvSpPr>
        <p:spPr>
          <a:xfrm>
            <a:off x="838200" y="1825625"/>
            <a:ext cx="11106150" cy="3595461"/>
          </a:xfrm>
        </p:spPr>
        <p:txBody>
          <a:bodyPr/>
          <a:lstStyle/>
          <a:p>
            <a:pPr marL="0" indent="0">
              <a:buNone/>
            </a:pPr>
            <a:r>
              <a:rPr lang="en-US" dirty="0"/>
              <a:t>In today's competitive business world, understanding customers is key. This project focuses on customer segmentation using PySpark, a powerful tool for big data analysis. By dividing customers into groups based on common characteristics, we aim to create personalized marketing strategies. These strategies, tailored to each group's preferences, boost customer engagement and loyalty, helping businesses thrive in the market.</a:t>
            </a:r>
          </a:p>
        </p:txBody>
      </p:sp>
    </p:spTree>
    <p:extLst>
      <p:ext uri="{BB962C8B-B14F-4D97-AF65-F5344CB8AC3E}">
        <p14:creationId xmlns:p14="http://schemas.microsoft.com/office/powerpoint/2010/main" val="1002458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B0CD7-7078-8B89-985E-1128CF772640}"/>
              </a:ext>
            </a:extLst>
          </p:cNvPr>
          <p:cNvSpPr>
            <a:spLocks noGrp="1"/>
          </p:cNvSpPr>
          <p:nvPr>
            <p:ph type="title"/>
          </p:nvPr>
        </p:nvSpPr>
        <p:spPr>
          <a:xfrm>
            <a:off x="1731943" y="0"/>
            <a:ext cx="10515600" cy="1325563"/>
          </a:xfrm>
        </p:spPr>
        <p:txBody>
          <a:bodyPr/>
          <a:lstStyle/>
          <a:p>
            <a:r>
              <a:rPr lang="en-US" dirty="0"/>
              <a:t>Objectives</a:t>
            </a:r>
          </a:p>
        </p:txBody>
      </p:sp>
      <p:sp>
        <p:nvSpPr>
          <p:cNvPr id="16" name="TextBox 6">
            <a:extLst>
              <a:ext uri="{FF2B5EF4-FFF2-40B4-BE49-F238E27FC236}">
                <a16:creationId xmlns:a16="http://schemas.microsoft.com/office/drawing/2014/main" id="{EE741074-B028-1594-8EB0-DABA1CDD7BC9}"/>
              </a:ext>
            </a:extLst>
          </p:cNvPr>
          <p:cNvSpPr txBox="1"/>
          <p:nvPr/>
        </p:nvSpPr>
        <p:spPr>
          <a:xfrm>
            <a:off x="2321346" y="1383916"/>
            <a:ext cx="3106757" cy="160043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Customer Segmentation</a:t>
            </a:r>
          </a:p>
          <a:p>
            <a:r>
              <a:rPr lang="en-US" sz="1600" dirty="0">
                <a:solidFill>
                  <a:schemeClr val="tx1">
                    <a:lumMod val="85000"/>
                    <a:lumOff val="15000"/>
                  </a:schemeClr>
                </a:solidFill>
              </a:rPr>
              <a:t>Implement customer segmentation using </a:t>
            </a:r>
            <a:r>
              <a:rPr lang="en-US" sz="1600" dirty="0" err="1">
                <a:solidFill>
                  <a:schemeClr val="tx1">
                    <a:lumMod val="85000"/>
                    <a:lumOff val="15000"/>
                  </a:schemeClr>
                </a:solidFill>
              </a:rPr>
              <a:t>PySpark</a:t>
            </a:r>
            <a:r>
              <a:rPr lang="en-US" sz="1600" dirty="0">
                <a:solidFill>
                  <a:schemeClr val="tx1">
                    <a:lumMod val="85000"/>
                    <a:lumOff val="15000"/>
                  </a:schemeClr>
                </a:solidFill>
              </a:rPr>
              <a:t> to divide customers into distinct groups based on their behavior, preferences, and characteristics.</a:t>
            </a:r>
            <a:endParaRPr lang="en-IN" sz="1600" dirty="0">
              <a:solidFill>
                <a:schemeClr val="tx1">
                  <a:lumMod val="85000"/>
                  <a:lumOff val="15000"/>
                </a:schemeClr>
              </a:solidFill>
            </a:endParaRPr>
          </a:p>
        </p:txBody>
      </p:sp>
      <p:sp>
        <p:nvSpPr>
          <p:cNvPr id="17" name="Oval 16">
            <a:extLst>
              <a:ext uri="{FF2B5EF4-FFF2-40B4-BE49-F238E27FC236}">
                <a16:creationId xmlns:a16="http://schemas.microsoft.com/office/drawing/2014/main" id="{9AE77392-C268-C71B-5775-4E8E5726474B}"/>
              </a:ext>
            </a:extLst>
          </p:cNvPr>
          <p:cNvSpPr/>
          <p:nvPr/>
        </p:nvSpPr>
        <p:spPr>
          <a:xfrm>
            <a:off x="1731943" y="1461035"/>
            <a:ext cx="495759" cy="407624"/>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dirty="0">
                <a:ln w="0"/>
                <a:solidFill>
                  <a:schemeClr val="tx1"/>
                </a:solidFill>
                <a:effectLst>
                  <a:outerShdw blurRad="38100" dist="19050" dir="2700000" algn="tl" rotWithShape="0">
                    <a:schemeClr val="dk1">
                      <a:alpha val="40000"/>
                    </a:schemeClr>
                  </a:outerShdw>
                </a:effectLst>
              </a:rPr>
              <a:t>1</a:t>
            </a:r>
          </a:p>
        </p:txBody>
      </p:sp>
      <p:sp>
        <p:nvSpPr>
          <p:cNvPr id="18" name="Oval 17">
            <a:extLst>
              <a:ext uri="{FF2B5EF4-FFF2-40B4-BE49-F238E27FC236}">
                <a16:creationId xmlns:a16="http://schemas.microsoft.com/office/drawing/2014/main" id="{FFAC5791-EA7F-7C3A-7325-F5D408210F81}"/>
              </a:ext>
            </a:extLst>
          </p:cNvPr>
          <p:cNvSpPr/>
          <p:nvPr/>
        </p:nvSpPr>
        <p:spPr>
          <a:xfrm>
            <a:off x="6439817" y="1383916"/>
            <a:ext cx="495759" cy="407624"/>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dirty="0">
                <a:ln w="0"/>
                <a:solidFill>
                  <a:schemeClr val="tx1"/>
                </a:solidFill>
                <a:effectLst>
                  <a:outerShdw blurRad="38100" dist="19050" dir="2700000" algn="tl" rotWithShape="0">
                    <a:schemeClr val="dk1">
                      <a:alpha val="40000"/>
                    </a:schemeClr>
                  </a:outerShdw>
                </a:effectLst>
              </a:rPr>
              <a:t>2</a:t>
            </a:r>
          </a:p>
        </p:txBody>
      </p:sp>
      <p:sp>
        <p:nvSpPr>
          <p:cNvPr id="19" name="TextBox 10">
            <a:extLst>
              <a:ext uri="{FF2B5EF4-FFF2-40B4-BE49-F238E27FC236}">
                <a16:creationId xmlns:a16="http://schemas.microsoft.com/office/drawing/2014/main" id="{117B13A6-CBF2-52C6-9609-B94E5C14B84D}"/>
              </a:ext>
            </a:extLst>
          </p:cNvPr>
          <p:cNvSpPr txBox="1"/>
          <p:nvPr/>
        </p:nvSpPr>
        <p:spPr>
          <a:xfrm>
            <a:off x="7157749" y="1383916"/>
            <a:ext cx="2919470" cy="135421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Data Preprocessing</a:t>
            </a:r>
          </a:p>
          <a:p>
            <a:r>
              <a:rPr lang="en-US" sz="1600" dirty="0">
                <a:solidFill>
                  <a:schemeClr val="tx1">
                    <a:lumMod val="85000"/>
                    <a:lumOff val="15000"/>
                  </a:schemeClr>
                </a:solidFill>
              </a:rPr>
              <a:t>Utilize data preprocessing techniques to clean and prepare the dataset for analysis, ensuring data quality and accuracy.</a:t>
            </a:r>
            <a:endParaRPr lang="en-IN" sz="1600" dirty="0">
              <a:solidFill>
                <a:schemeClr val="tx1">
                  <a:lumMod val="85000"/>
                  <a:lumOff val="15000"/>
                </a:schemeClr>
              </a:solidFill>
            </a:endParaRPr>
          </a:p>
        </p:txBody>
      </p:sp>
      <p:sp>
        <p:nvSpPr>
          <p:cNvPr id="20" name="Oval 19">
            <a:extLst>
              <a:ext uri="{FF2B5EF4-FFF2-40B4-BE49-F238E27FC236}">
                <a16:creationId xmlns:a16="http://schemas.microsoft.com/office/drawing/2014/main" id="{1DB74073-8AEF-36A4-683C-6F4082C3AEE7}"/>
              </a:ext>
            </a:extLst>
          </p:cNvPr>
          <p:cNvSpPr/>
          <p:nvPr/>
        </p:nvSpPr>
        <p:spPr>
          <a:xfrm>
            <a:off x="1731943" y="3487117"/>
            <a:ext cx="495759" cy="407624"/>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dirty="0">
                <a:ln w="0"/>
                <a:solidFill>
                  <a:schemeClr val="tx1"/>
                </a:solidFill>
                <a:effectLst>
                  <a:outerShdw blurRad="38100" dist="19050" dir="2700000" algn="tl" rotWithShape="0">
                    <a:schemeClr val="dk1">
                      <a:alpha val="40000"/>
                    </a:schemeClr>
                  </a:outerShdw>
                </a:effectLst>
              </a:rPr>
              <a:t>3</a:t>
            </a:r>
          </a:p>
        </p:txBody>
      </p:sp>
      <p:sp>
        <p:nvSpPr>
          <p:cNvPr id="21" name="TextBox 12">
            <a:extLst>
              <a:ext uri="{FF2B5EF4-FFF2-40B4-BE49-F238E27FC236}">
                <a16:creationId xmlns:a16="http://schemas.microsoft.com/office/drawing/2014/main" id="{6E27DA6C-1598-2761-5B13-7DB4453326E2}"/>
              </a:ext>
            </a:extLst>
          </p:cNvPr>
          <p:cNvSpPr txBox="1"/>
          <p:nvPr/>
        </p:nvSpPr>
        <p:spPr>
          <a:xfrm>
            <a:off x="2310333" y="3350427"/>
            <a:ext cx="2280491" cy="212365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Exploratory Data Analysis</a:t>
            </a:r>
          </a:p>
          <a:p>
            <a:r>
              <a:rPr lang="en-US" sz="1600" dirty="0">
                <a:solidFill>
                  <a:schemeClr val="tx1">
                    <a:lumMod val="85000"/>
                    <a:lumOff val="15000"/>
                  </a:schemeClr>
                </a:solidFill>
              </a:rPr>
              <a:t>Apply exploratory data analysis (EDA) to gain insights into customer behavior and identify key features for segmentation.</a:t>
            </a:r>
            <a:endParaRPr lang="en-IN" sz="1600" dirty="0">
              <a:solidFill>
                <a:schemeClr val="tx1">
                  <a:lumMod val="85000"/>
                  <a:lumOff val="15000"/>
                </a:schemeClr>
              </a:solidFill>
            </a:endParaRPr>
          </a:p>
        </p:txBody>
      </p:sp>
      <p:sp>
        <p:nvSpPr>
          <p:cNvPr id="22" name="Oval 21">
            <a:extLst>
              <a:ext uri="{FF2B5EF4-FFF2-40B4-BE49-F238E27FC236}">
                <a16:creationId xmlns:a16="http://schemas.microsoft.com/office/drawing/2014/main" id="{EB341315-E699-7501-3549-B28BE3F29A56}"/>
              </a:ext>
            </a:extLst>
          </p:cNvPr>
          <p:cNvSpPr/>
          <p:nvPr/>
        </p:nvSpPr>
        <p:spPr>
          <a:xfrm>
            <a:off x="4880015" y="3487117"/>
            <a:ext cx="495759" cy="407624"/>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dirty="0">
                <a:ln w="0"/>
                <a:solidFill>
                  <a:schemeClr val="tx1"/>
                </a:solidFill>
                <a:effectLst>
                  <a:outerShdw blurRad="38100" dist="19050" dir="2700000" algn="tl" rotWithShape="0">
                    <a:schemeClr val="dk1">
                      <a:alpha val="40000"/>
                    </a:schemeClr>
                  </a:outerShdw>
                </a:effectLst>
              </a:rPr>
              <a:t>4</a:t>
            </a:r>
          </a:p>
        </p:txBody>
      </p:sp>
      <p:sp>
        <p:nvSpPr>
          <p:cNvPr id="23" name="TextBox 14">
            <a:extLst>
              <a:ext uri="{FF2B5EF4-FFF2-40B4-BE49-F238E27FC236}">
                <a16:creationId xmlns:a16="http://schemas.microsoft.com/office/drawing/2014/main" id="{81A39980-806C-C1A8-B5F9-DE1E3DA49326}"/>
              </a:ext>
            </a:extLst>
          </p:cNvPr>
          <p:cNvSpPr txBox="1"/>
          <p:nvPr/>
        </p:nvSpPr>
        <p:spPr>
          <a:xfrm>
            <a:off x="5417086" y="3350427"/>
            <a:ext cx="2203373" cy="1631216"/>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Machine Learning Models</a:t>
            </a:r>
          </a:p>
          <a:p>
            <a:r>
              <a:rPr lang="en-US" sz="1600" dirty="0">
                <a:solidFill>
                  <a:schemeClr val="tx1">
                    <a:lumMod val="85000"/>
                    <a:lumOff val="15000"/>
                  </a:schemeClr>
                </a:solidFill>
              </a:rPr>
              <a:t>Build machine learning models using </a:t>
            </a:r>
            <a:r>
              <a:rPr lang="en-US" sz="1600" dirty="0" err="1">
                <a:solidFill>
                  <a:schemeClr val="tx1">
                    <a:lumMod val="85000"/>
                    <a:lumOff val="15000"/>
                  </a:schemeClr>
                </a:solidFill>
              </a:rPr>
              <a:t>PySpark</a:t>
            </a:r>
            <a:r>
              <a:rPr lang="en-US" sz="1600" dirty="0">
                <a:solidFill>
                  <a:schemeClr val="tx1">
                    <a:lumMod val="85000"/>
                    <a:lumOff val="15000"/>
                  </a:schemeClr>
                </a:solidFill>
              </a:rPr>
              <a:t> </a:t>
            </a:r>
            <a:r>
              <a:rPr lang="en-US" sz="1600" dirty="0" err="1">
                <a:solidFill>
                  <a:schemeClr val="tx1">
                    <a:lumMod val="85000"/>
                    <a:lumOff val="15000"/>
                  </a:schemeClr>
                </a:solidFill>
              </a:rPr>
              <a:t>MLlib</a:t>
            </a:r>
            <a:r>
              <a:rPr lang="en-US" sz="1600" dirty="0">
                <a:solidFill>
                  <a:schemeClr val="tx1">
                    <a:lumMod val="85000"/>
                    <a:lumOff val="15000"/>
                  </a:schemeClr>
                </a:solidFill>
              </a:rPr>
              <a:t> to perform customer segmentation.</a:t>
            </a:r>
            <a:endParaRPr lang="en-IN" sz="1600" dirty="0">
              <a:solidFill>
                <a:schemeClr val="tx1">
                  <a:lumMod val="85000"/>
                  <a:lumOff val="15000"/>
                </a:schemeClr>
              </a:solidFill>
            </a:endParaRPr>
          </a:p>
        </p:txBody>
      </p:sp>
      <p:sp>
        <p:nvSpPr>
          <p:cNvPr id="24" name="Oval 23">
            <a:extLst>
              <a:ext uri="{FF2B5EF4-FFF2-40B4-BE49-F238E27FC236}">
                <a16:creationId xmlns:a16="http://schemas.microsoft.com/office/drawing/2014/main" id="{FEA9BC69-B86F-BFC5-8865-24D3E1A07877}"/>
              </a:ext>
            </a:extLst>
          </p:cNvPr>
          <p:cNvSpPr/>
          <p:nvPr/>
        </p:nvSpPr>
        <p:spPr>
          <a:xfrm>
            <a:off x="7909650" y="3449069"/>
            <a:ext cx="495759" cy="407624"/>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IN" dirty="0">
                <a:ln w="0"/>
                <a:solidFill>
                  <a:schemeClr val="tx1"/>
                </a:solidFill>
                <a:effectLst>
                  <a:outerShdw blurRad="38100" dist="19050" dir="2700000" algn="tl" rotWithShape="0">
                    <a:schemeClr val="dk1">
                      <a:alpha val="40000"/>
                    </a:schemeClr>
                  </a:outerShdw>
                </a:effectLst>
              </a:rPr>
              <a:t>5</a:t>
            </a:r>
          </a:p>
        </p:txBody>
      </p:sp>
      <p:sp>
        <p:nvSpPr>
          <p:cNvPr id="25" name="TextBox 17">
            <a:extLst>
              <a:ext uri="{FF2B5EF4-FFF2-40B4-BE49-F238E27FC236}">
                <a16:creationId xmlns:a16="http://schemas.microsoft.com/office/drawing/2014/main" id="{6AF68BCA-3E8A-36E1-D353-F82D4730E5EC}"/>
              </a:ext>
            </a:extLst>
          </p:cNvPr>
          <p:cNvSpPr txBox="1"/>
          <p:nvPr/>
        </p:nvSpPr>
        <p:spPr>
          <a:xfrm>
            <a:off x="8405409" y="3350427"/>
            <a:ext cx="2054647" cy="209288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Cluster Analysis</a:t>
            </a:r>
          </a:p>
          <a:p>
            <a:r>
              <a:rPr lang="en-US" sz="1600" dirty="0">
                <a:solidFill>
                  <a:schemeClr val="tx1">
                    <a:lumMod val="85000"/>
                    <a:lumOff val="15000"/>
                  </a:schemeClr>
                </a:solidFill>
              </a:rPr>
              <a:t>Conduct cluster analysis to interpret segmentation results and derive actionable insights for personalized marketing strategies</a:t>
            </a:r>
            <a:endParaRPr lang="en-IN" sz="1600" dirty="0">
              <a:solidFill>
                <a:schemeClr val="tx1">
                  <a:lumMod val="85000"/>
                  <a:lumOff val="15000"/>
                </a:schemeClr>
              </a:solidFill>
            </a:endParaRPr>
          </a:p>
        </p:txBody>
      </p:sp>
    </p:spTree>
    <p:extLst>
      <p:ext uri="{BB962C8B-B14F-4D97-AF65-F5344CB8AC3E}">
        <p14:creationId xmlns:p14="http://schemas.microsoft.com/office/powerpoint/2010/main" val="940636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00DE8-658D-F99E-2D47-FBFFF6A2DCF7}"/>
              </a:ext>
            </a:extLst>
          </p:cNvPr>
          <p:cNvSpPr>
            <a:spLocks noGrp="1"/>
          </p:cNvSpPr>
          <p:nvPr>
            <p:ph type="title"/>
          </p:nvPr>
        </p:nvSpPr>
        <p:spPr>
          <a:xfrm>
            <a:off x="881400" y="316597"/>
            <a:ext cx="10515600" cy="1325563"/>
          </a:xfrm>
        </p:spPr>
        <p:txBody>
          <a:bodyPr/>
          <a:lstStyle/>
          <a:p>
            <a:r>
              <a:rPr lang="en-US" dirty="0"/>
              <a:t>Description of Dataset</a:t>
            </a:r>
          </a:p>
        </p:txBody>
      </p:sp>
      <p:sp>
        <p:nvSpPr>
          <p:cNvPr id="6" name="Shape 1">
            <a:extLst>
              <a:ext uri="{FF2B5EF4-FFF2-40B4-BE49-F238E27FC236}">
                <a16:creationId xmlns:a16="http://schemas.microsoft.com/office/drawing/2014/main" id="{5C48A22C-09A4-A75B-EDDF-DC6B7AAC95AD}"/>
              </a:ext>
            </a:extLst>
          </p:cNvPr>
          <p:cNvSpPr/>
          <p:nvPr/>
        </p:nvSpPr>
        <p:spPr>
          <a:xfrm>
            <a:off x="903376" y="1866723"/>
            <a:ext cx="2290539" cy="1379116"/>
          </a:xfrm>
          <a:prstGeom prst="roundRect">
            <a:avLst>
              <a:gd name="adj" fmla="val 4317"/>
            </a:avLst>
          </a:prstGeom>
          <a:solidFill>
            <a:srgbClr val="E1E1EA"/>
          </a:solidFill>
          <a:ln w="7620">
            <a:solidFill>
              <a:srgbClr val="C7C7D0"/>
            </a:solidFill>
            <a:prstDash val="solid"/>
          </a:ln>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7" name="Text 2">
            <a:extLst>
              <a:ext uri="{FF2B5EF4-FFF2-40B4-BE49-F238E27FC236}">
                <a16:creationId xmlns:a16="http://schemas.microsoft.com/office/drawing/2014/main" id="{01F4F244-5183-FDAB-F62F-1534777525B8}"/>
              </a:ext>
            </a:extLst>
          </p:cNvPr>
          <p:cNvSpPr/>
          <p:nvPr/>
        </p:nvSpPr>
        <p:spPr>
          <a:xfrm>
            <a:off x="1049896" y="2013245"/>
            <a:ext cx="1772022" cy="221456"/>
          </a:xfrm>
          <a:prstGeom prst="rect">
            <a:avLst/>
          </a:prstGeom>
          <a:noFill/>
          <a:ln/>
        </p:spPr>
        <p:txBody>
          <a:bodyPr wrap="none" lIns="0" tIns="0" rIns="0" bIns="0" rtlCol="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ts val="1719"/>
              </a:lnSpc>
            </a:pPr>
            <a:r>
              <a:rPr lang="en-US" sz="1375" dirty="0">
                <a:solidFill>
                  <a:srgbClr val="3C3939"/>
                </a:solidFill>
                <a:latin typeface="Raleway" pitchFamily="34" charset="0"/>
                <a:ea typeface="Raleway" pitchFamily="34" charset="-122"/>
                <a:cs typeface="Raleway" pitchFamily="34" charset="-120"/>
              </a:rPr>
              <a:t>Dataset Source</a:t>
            </a:r>
            <a:endParaRPr lang="en-US" sz="1375" dirty="0"/>
          </a:p>
        </p:txBody>
      </p:sp>
      <p:sp>
        <p:nvSpPr>
          <p:cNvPr id="8" name="Text 3">
            <a:extLst>
              <a:ext uri="{FF2B5EF4-FFF2-40B4-BE49-F238E27FC236}">
                <a16:creationId xmlns:a16="http://schemas.microsoft.com/office/drawing/2014/main" id="{6C810651-3D9B-0678-EB22-064CE151422E}"/>
              </a:ext>
            </a:extLst>
          </p:cNvPr>
          <p:cNvSpPr/>
          <p:nvPr/>
        </p:nvSpPr>
        <p:spPr>
          <a:xfrm>
            <a:off x="1049896" y="2381223"/>
            <a:ext cx="1997497" cy="680443"/>
          </a:xfrm>
          <a:prstGeom prst="rect">
            <a:avLst/>
          </a:prstGeom>
          <a:noFill/>
          <a:ln/>
        </p:spPr>
        <p:txBody>
          <a:bodyPr wrap="square" lIns="0" tIns="0" rIns="0" bIns="0" rtlCol="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ts val="1781"/>
              </a:lnSpc>
            </a:pPr>
            <a:r>
              <a:rPr lang="en-US" sz="1094" dirty="0">
                <a:solidFill>
                  <a:srgbClr val="3C3939"/>
                </a:solidFill>
                <a:latin typeface="Roboto" pitchFamily="34" charset="0"/>
                <a:ea typeface="Roboto" pitchFamily="34" charset="-122"/>
                <a:cs typeface="Roboto" pitchFamily="34" charset="-120"/>
              </a:rPr>
              <a:t>Large-scale eCommerce transaction dataset from Kaggle</a:t>
            </a:r>
            <a:endParaRPr lang="en-US" sz="1094" dirty="0"/>
          </a:p>
        </p:txBody>
      </p:sp>
      <p:sp>
        <p:nvSpPr>
          <p:cNvPr id="9" name="Shape 4">
            <a:extLst>
              <a:ext uri="{FF2B5EF4-FFF2-40B4-BE49-F238E27FC236}">
                <a16:creationId xmlns:a16="http://schemas.microsoft.com/office/drawing/2014/main" id="{68AE96E3-48B2-C1A3-F062-CB5E50B22E6A}"/>
              </a:ext>
            </a:extLst>
          </p:cNvPr>
          <p:cNvSpPr/>
          <p:nvPr/>
        </p:nvSpPr>
        <p:spPr>
          <a:xfrm>
            <a:off x="3805461" y="1842924"/>
            <a:ext cx="2290539" cy="1379116"/>
          </a:xfrm>
          <a:prstGeom prst="roundRect">
            <a:avLst>
              <a:gd name="adj" fmla="val 4317"/>
            </a:avLst>
          </a:prstGeom>
          <a:solidFill>
            <a:srgbClr val="E1E1EA"/>
          </a:solidFill>
          <a:ln w="7620">
            <a:solidFill>
              <a:srgbClr val="C7C7D0"/>
            </a:solidFill>
            <a:prstDash val="solid"/>
          </a:ln>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0" name="Text 5">
            <a:extLst>
              <a:ext uri="{FF2B5EF4-FFF2-40B4-BE49-F238E27FC236}">
                <a16:creationId xmlns:a16="http://schemas.microsoft.com/office/drawing/2014/main" id="{A0E222D7-6F90-3064-3DF0-B670F0187E0B}"/>
              </a:ext>
            </a:extLst>
          </p:cNvPr>
          <p:cNvSpPr/>
          <p:nvPr/>
        </p:nvSpPr>
        <p:spPr>
          <a:xfrm>
            <a:off x="3887802" y="2008417"/>
            <a:ext cx="1772022" cy="221456"/>
          </a:xfrm>
          <a:prstGeom prst="rect">
            <a:avLst/>
          </a:prstGeom>
          <a:noFill/>
          <a:ln/>
        </p:spPr>
        <p:txBody>
          <a:bodyPr wrap="none" lIns="0" tIns="0" rIns="0" bIns="0" rtlCol="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ts val="1719"/>
              </a:lnSpc>
            </a:pPr>
            <a:r>
              <a:rPr lang="en-US" sz="1375" dirty="0">
                <a:solidFill>
                  <a:srgbClr val="3C3939"/>
                </a:solidFill>
                <a:latin typeface="Raleway" pitchFamily="34" charset="0"/>
                <a:ea typeface="Raleway" pitchFamily="34" charset="-122"/>
                <a:cs typeface="Raleway" pitchFamily="34" charset="-120"/>
              </a:rPr>
              <a:t>Key Data Fields</a:t>
            </a:r>
            <a:endParaRPr lang="en-US" sz="1375" dirty="0"/>
          </a:p>
        </p:txBody>
      </p:sp>
      <p:sp>
        <p:nvSpPr>
          <p:cNvPr id="11" name="Text 6">
            <a:extLst>
              <a:ext uri="{FF2B5EF4-FFF2-40B4-BE49-F238E27FC236}">
                <a16:creationId xmlns:a16="http://schemas.microsoft.com/office/drawing/2014/main" id="{22791730-9723-3E06-4781-5F6E0AF88C13}"/>
              </a:ext>
            </a:extLst>
          </p:cNvPr>
          <p:cNvSpPr/>
          <p:nvPr/>
        </p:nvSpPr>
        <p:spPr>
          <a:xfrm>
            <a:off x="3979187" y="2317230"/>
            <a:ext cx="1997497" cy="226814"/>
          </a:xfrm>
          <a:prstGeom prst="rect">
            <a:avLst/>
          </a:prstGeom>
          <a:noFill/>
          <a:ln/>
        </p:spPr>
        <p:txBody>
          <a:bodyPr wrap="none" lIns="0" tIns="0" rIns="0" bIns="0" rtlCol="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14313" indent="-214313">
              <a:lnSpc>
                <a:spcPts val="1781"/>
              </a:lnSpc>
              <a:buSzPct val="100000"/>
              <a:buChar char="•"/>
            </a:pPr>
            <a:r>
              <a:rPr lang="en-US" sz="1094" dirty="0">
                <a:solidFill>
                  <a:srgbClr val="3C3939"/>
                </a:solidFill>
                <a:latin typeface="Roboto" pitchFamily="34" charset="0"/>
                <a:ea typeface="Roboto" pitchFamily="34" charset="-122"/>
                <a:cs typeface="Roboto" pitchFamily="34" charset="-120"/>
              </a:rPr>
              <a:t>event_time, event_type</a:t>
            </a:r>
            <a:endParaRPr lang="en-US" sz="1094" dirty="0"/>
          </a:p>
        </p:txBody>
      </p:sp>
      <p:sp>
        <p:nvSpPr>
          <p:cNvPr id="12" name="Text 7">
            <a:extLst>
              <a:ext uri="{FF2B5EF4-FFF2-40B4-BE49-F238E27FC236}">
                <a16:creationId xmlns:a16="http://schemas.microsoft.com/office/drawing/2014/main" id="{9C51F5F1-5160-38ED-62B4-4833585EBF0E}"/>
              </a:ext>
            </a:extLst>
          </p:cNvPr>
          <p:cNvSpPr/>
          <p:nvPr/>
        </p:nvSpPr>
        <p:spPr>
          <a:xfrm>
            <a:off x="3979187" y="2532482"/>
            <a:ext cx="1997497" cy="226814"/>
          </a:xfrm>
          <a:prstGeom prst="rect">
            <a:avLst/>
          </a:prstGeom>
          <a:noFill/>
          <a:ln/>
        </p:spPr>
        <p:txBody>
          <a:bodyPr wrap="none" lIns="0" tIns="0" rIns="0" bIns="0" rtlCol="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14313" indent="-214313">
              <a:lnSpc>
                <a:spcPts val="1781"/>
              </a:lnSpc>
              <a:buSzPct val="100000"/>
              <a:buChar char="•"/>
            </a:pPr>
            <a:r>
              <a:rPr lang="en-US" sz="1094" dirty="0">
                <a:solidFill>
                  <a:srgbClr val="3C3939"/>
                </a:solidFill>
                <a:latin typeface="Roboto" pitchFamily="34" charset="0"/>
                <a:ea typeface="Roboto" pitchFamily="34" charset="-122"/>
                <a:cs typeface="Roboto" pitchFamily="34" charset="-120"/>
              </a:rPr>
              <a:t>product_id, category_id</a:t>
            </a:r>
            <a:endParaRPr lang="en-US" sz="1094" dirty="0"/>
          </a:p>
        </p:txBody>
      </p:sp>
      <p:sp>
        <p:nvSpPr>
          <p:cNvPr id="13" name="Text 8">
            <a:extLst>
              <a:ext uri="{FF2B5EF4-FFF2-40B4-BE49-F238E27FC236}">
                <a16:creationId xmlns:a16="http://schemas.microsoft.com/office/drawing/2014/main" id="{C841A84D-04B2-659D-F7DF-FD0FF6FE31C5}"/>
              </a:ext>
            </a:extLst>
          </p:cNvPr>
          <p:cNvSpPr/>
          <p:nvPr/>
        </p:nvSpPr>
        <p:spPr>
          <a:xfrm>
            <a:off x="3979187" y="2730944"/>
            <a:ext cx="1997497" cy="226814"/>
          </a:xfrm>
          <a:prstGeom prst="rect">
            <a:avLst/>
          </a:prstGeom>
          <a:noFill/>
          <a:ln/>
        </p:spPr>
        <p:txBody>
          <a:bodyPr wrap="none" lIns="0" tIns="0" rIns="0" bIns="0" rtlCol="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14313" indent="-214313">
              <a:lnSpc>
                <a:spcPts val="1781"/>
              </a:lnSpc>
              <a:buSzPct val="100000"/>
              <a:buChar char="•"/>
            </a:pPr>
            <a:r>
              <a:rPr lang="en-US" sz="1094" dirty="0">
                <a:solidFill>
                  <a:srgbClr val="3C3939"/>
                </a:solidFill>
                <a:latin typeface="Roboto" pitchFamily="34" charset="0"/>
                <a:ea typeface="Roboto" pitchFamily="34" charset="-122"/>
                <a:cs typeface="Roboto" pitchFamily="34" charset="-120"/>
              </a:rPr>
              <a:t>brand, price, user_id</a:t>
            </a:r>
            <a:endParaRPr lang="en-US" sz="1094" dirty="0"/>
          </a:p>
        </p:txBody>
      </p:sp>
      <p:sp>
        <p:nvSpPr>
          <p:cNvPr id="14" name="Shape 9">
            <a:extLst>
              <a:ext uri="{FF2B5EF4-FFF2-40B4-BE49-F238E27FC236}">
                <a16:creationId xmlns:a16="http://schemas.microsoft.com/office/drawing/2014/main" id="{C9C9432F-2367-9BF5-B2CE-2A4496E7911A}"/>
              </a:ext>
            </a:extLst>
          </p:cNvPr>
          <p:cNvSpPr/>
          <p:nvPr/>
        </p:nvSpPr>
        <p:spPr>
          <a:xfrm>
            <a:off x="903376" y="3612162"/>
            <a:ext cx="4880112" cy="1603680"/>
          </a:xfrm>
          <a:prstGeom prst="roundRect">
            <a:avLst>
              <a:gd name="adj" fmla="val 4317"/>
            </a:avLst>
          </a:prstGeom>
          <a:solidFill>
            <a:srgbClr val="E1E1EA"/>
          </a:solidFill>
          <a:ln w="7620">
            <a:solidFill>
              <a:srgbClr val="C7C7D0"/>
            </a:solidFill>
            <a:prstDash val="solid"/>
          </a:ln>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a:p>
        </p:txBody>
      </p:sp>
      <p:sp>
        <p:nvSpPr>
          <p:cNvPr id="15" name="Text 10">
            <a:extLst>
              <a:ext uri="{FF2B5EF4-FFF2-40B4-BE49-F238E27FC236}">
                <a16:creationId xmlns:a16="http://schemas.microsoft.com/office/drawing/2014/main" id="{5146D99F-68B8-B532-184D-78BD0FC0F5FA}"/>
              </a:ext>
            </a:extLst>
          </p:cNvPr>
          <p:cNvSpPr/>
          <p:nvPr/>
        </p:nvSpPr>
        <p:spPr>
          <a:xfrm>
            <a:off x="1049896" y="3790109"/>
            <a:ext cx="1772022" cy="221456"/>
          </a:xfrm>
          <a:prstGeom prst="rect">
            <a:avLst/>
          </a:prstGeom>
          <a:noFill/>
          <a:ln/>
        </p:spPr>
        <p:txBody>
          <a:bodyPr wrap="none" lIns="0" tIns="0" rIns="0" bIns="0" rtlCol="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ts val="1719"/>
              </a:lnSpc>
            </a:pPr>
            <a:r>
              <a:rPr lang="en-US" sz="1375" dirty="0">
                <a:solidFill>
                  <a:srgbClr val="3C3939"/>
                </a:solidFill>
                <a:latin typeface="Raleway" pitchFamily="34" charset="0"/>
                <a:ea typeface="Raleway" pitchFamily="34" charset="-122"/>
                <a:cs typeface="Raleway" pitchFamily="34" charset="-120"/>
              </a:rPr>
              <a:t>Data Challenges</a:t>
            </a:r>
            <a:endParaRPr lang="en-US" sz="1375" dirty="0"/>
          </a:p>
        </p:txBody>
      </p:sp>
      <p:sp>
        <p:nvSpPr>
          <p:cNvPr id="16" name="Text 11">
            <a:extLst>
              <a:ext uri="{FF2B5EF4-FFF2-40B4-BE49-F238E27FC236}">
                <a16:creationId xmlns:a16="http://schemas.microsoft.com/office/drawing/2014/main" id="{72A57E45-4B79-C001-C790-8E6E78E878B5}"/>
              </a:ext>
            </a:extLst>
          </p:cNvPr>
          <p:cNvSpPr/>
          <p:nvPr/>
        </p:nvSpPr>
        <p:spPr>
          <a:xfrm>
            <a:off x="1230103" y="4080468"/>
            <a:ext cx="4429721" cy="226814"/>
          </a:xfrm>
          <a:prstGeom prst="rect">
            <a:avLst/>
          </a:prstGeom>
          <a:noFill/>
          <a:ln/>
        </p:spPr>
        <p:txBody>
          <a:bodyPr wrap="none" lIns="0" tIns="0" rIns="0" bIns="0" rtlCol="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14313" indent="-214313">
              <a:lnSpc>
                <a:spcPts val="1781"/>
              </a:lnSpc>
              <a:buSzPct val="100000"/>
              <a:buChar char="•"/>
            </a:pPr>
            <a:r>
              <a:rPr lang="en-US" sz="1094" dirty="0">
                <a:solidFill>
                  <a:srgbClr val="3C3939"/>
                </a:solidFill>
                <a:latin typeface="Roboto" pitchFamily="34" charset="0"/>
                <a:ea typeface="Roboto" pitchFamily="34" charset="-122"/>
                <a:cs typeface="Roboto" pitchFamily="34" charset="-120"/>
              </a:rPr>
              <a:t>Handling missing values</a:t>
            </a:r>
            <a:endParaRPr lang="en-US" sz="1094" dirty="0"/>
          </a:p>
        </p:txBody>
      </p:sp>
      <p:sp>
        <p:nvSpPr>
          <p:cNvPr id="17" name="Text 12">
            <a:extLst>
              <a:ext uri="{FF2B5EF4-FFF2-40B4-BE49-F238E27FC236}">
                <a16:creationId xmlns:a16="http://schemas.microsoft.com/office/drawing/2014/main" id="{074F3DD9-2C44-5802-6AFF-110AE3CE5989}"/>
              </a:ext>
            </a:extLst>
          </p:cNvPr>
          <p:cNvSpPr/>
          <p:nvPr/>
        </p:nvSpPr>
        <p:spPr>
          <a:xfrm>
            <a:off x="1230102" y="4333281"/>
            <a:ext cx="4429721" cy="226814"/>
          </a:xfrm>
          <a:prstGeom prst="rect">
            <a:avLst/>
          </a:prstGeom>
          <a:noFill/>
          <a:ln/>
        </p:spPr>
        <p:txBody>
          <a:bodyPr wrap="none" lIns="0" tIns="0" rIns="0" bIns="0" rtlCol="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14313" indent="-214313">
              <a:lnSpc>
                <a:spcPts val="1781"/>
              </a:lnSpc>
              <a:buSzPct val="100000"/>
              <a:buChar char="•"/>
            </a:pPr>
            <a:r>
              <a:rPr lang="en-US" sz="1094" dirty="0">
                <a:solidFill>
                  <a:srgbClr val="3C3939"/>
                </a:solidFill>
                <a:latin typeface="Roboto" pitchFamily="34" charset="0"/>
                <a:ea typeface="Roboto" pitchFamily="34" charset="-122"/>
                <a:cs typeface="Roboto" pitchFamily="34" charset="-120"/>
              </a:rPr>
              <a:t>Processing large-scale data</a:t>
            </a:r>
            <a:endParaRPr lang="en-US" sz="1094" dirty="0"/>
          </a:p>
        </p:txBody>
      </p:sp>
      <p:sp>
        <p:nvSpPr>
          <p:cNvPr id="18" name="Text 13">
            <a:extLst>
              <a:ext uri="{FF2B5EF4-FFF2-40B4-BE49-F238E27FC236}">
                <a16:creationId xmlns:a16="http://schemas.microsoft.com/office/drawing/2014/main" id="{AFA899AA-919A-88F4-4D28-1B1BD7A5B494}"/>
              </a:ext>
            </a:extLst>
          </p:cNvPr>
          <p:cNvSpPr/>
          <p:nvPr/>
        </p:nvSpPr>
        <p:spPr>
          <a:xfrm>
            <a:off x="1230101" y="4616683"/>
            <a:ext cx="4429721" cy="226814"/>
          </a:xfrm>
          <a:prstGeom prst="rect">
            <a:avLst/>
          </a:prstGeom>
          <a:noFill/>
          <a:ln/>
        </p:spPr>
        <p:txBody>
          <a:bodyPr wrap="none" lIns="0" tIns="0" rIns="0" bIns="0" rtlCol="0" anchor="t"/>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14313" indent="-214313">
              <a:lnSpc>
                <a:spcPts val="1781"/>
              </a:lnSpc>
              <a:buSzPct val="100000"/>
              <a:buChar char="•"/>
            </a:pPr>
            <a:r>
              <a:rPr lang="en-US" sz="1094" dirty="0">
                <a:solidFill>
                  <a:srgbClr val="3C3939"/>
                </a:solidFill>
                <a:latin typeface="Roboto" pitchFamily="34" charset="0"/>
                <a:ea typeface="Roboto" pitchFamily="34" charset="-122"/>
                <a:cs typeface="Roboto" pitchFamily="34" charset="-120"/>
              </a:rPr>
              <a:t>Identifying meaningful segments</a:t>
            </a:r>
            <a:endParaRPr lang="en-US" sz="1094" dirty="0"/>
          </a:p>
        </p:txBody>
      </p:sp>
      <p:pic>
        <p:nvPicPr>
          <p:cNvPr id="19" name="Image 0">
            <a:extLst>
              <a:ext uri="{FF2B5EF4-FFF2-40B4-BE49-F238E27FC236}">
                <a16:creationId xmlns:a16="http://schemas.microsoft.com/office/drawing/2014/main" id="{845FFFDD-CF29-6D84-CF51-FD73FF5F656A}"/>
              </a:ext>
            </a:extLst>
          </p:cNvPr>
          <p:cNvPicPr>
            <a:picLocks noChangeAspect="1"/>
          </p:cNvPicPr>
          <p:nvPr/>
        </p:nvPicPr>
        <p:blipFill>
          <a:blip r:embed="rId2"/>
          <a:stretch>
            <a:fillRect/>
          </a:stretch>
        </p:blipFill>
        <p:spPr>
          <a:xfrm>
            <a:off x="7155180" y="949327"/>
            <a:ext cx="3429000" cy="5143500"/>
          </a:xfrm>
          <a:prstGeom prst="rect">
            <a:avLst/>
          </a:prstGeom>
        </p:spPr>
      </p:pic>
    </p:spTree>
    <p:extLst>
      <p:ext uri="{BB962C8B-B14F-4D97-AF65-F5344CB8AC3E}">
        <p14:creationId xmlns:p14="http://schemas.microsoft.com/office/powerpoint/2010/main" val="1701907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E0C99-1793-5BC6-7D12-6222016027AC}"/>
              </a:ext>
            </a:extLst>
          </p:cNvPr>
          <p:cNvSpPr>
            <a:spLocks noGrp="1"/>
          </p:cNvSpPr>
          <p:nvPr>
            <p:ph type="title"/>
          </p:nvPr>
        </p:nvSpPr>
        <p:spPr/>
        <p:txBody>
          <a:bodyPr>
            <a:normAutofit/>
          </a:bodyPr>
          <a:lstStyle/>
          <a:p>
            <a:r>
              <a:rPr lang="en-US" dirty="0"/>
              <a:t>EDA</a:t>
            </a:r>
          </a:p>
        </p:txBody>
      </p:sp>
      <p:sp>
        <p:nvSpPr>
          <p:cNvPr id="3" name="Content Placeholder 2">
            <a:extLst>
              <a:ext uri="{FF2B5EF4-FFF2-40B4-BE49-F238E27FC236}">
                <a16:creationId xmlns:a16="http://schemas.microsoft.com/office/drawing/2014/main" id="{BEFAB451-D8D2-8E31-8091-7626A84E9B29}"/>
              </a:ext>
            </a:extLst>
          </p:cNvPr>
          <p:cNvSpPr>
            <a:spLocks noGrp="1"/>
          </p:cNvSpPr>
          <p:nvPr>
            <p:ph idx="1"/>
          </p:nvPr>
        </p:nvSpPr>
        <p:spPr/>
        <p:txBody>
          <a:bodyPr/>
          <a:lstStyle/>
          <a:p>
            <a:pPr algn="l">
              <a:buFont typeface="Arial" panose="020B0604020202020204" pitchFamily="34" charset="0"/>
              <a:buChar char="•"/>
            </a:pPr>
            <a:r>
              <a:rPr lang="en-US" b="0" i="0" dirty="0">
                <a:solidFill>
                  <a:srgbClr val="0D0D0D"/>
                </a:solidFill>
                <a:effectLst/>
                <a:latin typeface="Söhne"/>
              </a:rPr>
              <a:t>Analyzed the dataset to understand its structure and contents.</a:t>
            </a:r>
          </a:p>
          <a:p>
            <a:pPr algn="l">
              <a:buFont typeface="Arial" panose="020B0604020202020204" pitchFamily="34" charset="0"/>
              <a:buChar char="•"/>
            </a:pPr>
            <a:r>
              <a:rPr lang="en-US" b="0" i="0" dirty="0">
                <a:solidFill>
                  <a:srgbClr val="0D0D0D"/>
                </a:solidFill>
                <a:effectLst/>
                <a:latin typeface="Söhne"/>
              </a:rPr>
              <a:t>Conducted category-wise and brand-wise analysis to identify popular categories and brands among customers.</a:t>
            </a:r>
          </a:p>
          <a:p>
            <a:pPr algn="l">
              <a:buFont typeface="Arial" panose="020B0604020202020204" pitchFamily="34" charset="0"/>
              <a:buChar char="•"/>
            </a:pPr>
            <a:r>
              <a:rPr lang="en-US" b="0" i="0" dirty="0">
                <a:solidFill>
                  <a:srgbClr val="0D0D0D"/>
                </a:solidFill>
                <a:effectLst/>
                <a:latin typeface="Söhne"/>
              </a:rPr>
              <a:t>Examined user behavior over time to identify seasonal trends or patterns in purchasing behavior.</a:t>
            </a:r>
          </a:p>
          <a:p>
            <a:pPr>
              <a:buFont typeface="Arial" panose="020B0604020202020204" pitchFamily="34" charset="0"/>
              <a:buChar char="•"/>
            </a:pPr>
            <a:r>
              <a:rPr lang="en-US" b="0" i="0" dirty="0">
                <a:solidFill>
                  <a:srgbClr val="0D0D0D"/>
                </a:solidFill>
                <a:effectLst/>
                <a:latin typeface="Söhne"/>
              </a:rPr>
              <a:t>Calculated the correlation matrix to identify relationships between numeric variables, aiding in understanding feature interactions and potential multicollinearity issues.</a:t>
            </a:r>
          </a:p>
          <a:p>
            <a:pPr algn="l">
              <a:buFont typeface="Arial" panose="020B0604020202020204" pitchFamily="34" charset="0"/>
              <a:buChar char="•"/>
            </a:pPr>
            <a:endParaRPr lang="en-US" b="0" i="0" dirty="0">
              <a:solidFill>
                <a:srgbClr val="0D0D0D"/>
              </a:solidFill>
              <a:effectLst/>
              <a:latin typeface="Söhne"/>
            </a:endParaRPr>
          </a:p>
          <a:p>
            <a:endParaRPr lang="en-US" dirty="0"/>
          </a:p>
        </p:txBody>
      </p:sp>
    </p:spTree>
    <p:extLst>
      <p:ext uri="{BB962C8B-B14F-4D97-AF65-F5344CB8AC3E}">
        <p14:creationId xmlns:p14="http://schemas.microsoft.com/office/powerpoint/2010/main" val="2894746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883D9-5D9B-ADAA-ED40-54F293BED45A}"/>
              </a:ext>
            </a:extLst>
          </p:cNvPr>
          <p:cNvSpPr>
            <a:spLocks noGrp="1"/>
          </p:cNvSpPr>
          <p:nvPr>
            <p:ph type="title"/>
          </p:nvPr>
        </p:nvSpPr>
        <p:spPr>
          <a:xfrm>
            <a:off x="1031238" y="71120"/>
            <a:ext cx="10586776" cy="1021548"/>
          </a:xfrm>
        </p:spPr>
        <p:txBody>
          <a:bodyPr/>
          <a:lstStyle/>
          <a:p>
            <a:pPr>
              <a:lnSpc>
                <a:spcPts val="4950"/>
              </a:lnSpc>
            </a:pPr>
            <a:r>
              <a:rPr lang="en-US" b="1" dirty="0">
                <a:latin typeface="Times New Roman" panose="02020603050405020304" pitchFamily="18" charset="0"/>
                <a:ea typeface="Comfortaa Bold" pitchFamily="34" charset="-122"/>
                <a:cs typeface="Times New Roman" panose="02020603050405020304" pitchFamily="18" charset="0"/>
              </a:rPr>
              <a:t>Categorical Analysis</a:t>
            </a: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6BECC96-A5EB-4CA9-2485-9BE3BCC8EA77}"/>
              </a:ext>
            </a:extLst>
          </p:cNvPr>
          <p:cNvPicPr>
            <a:picLocks noChangeAspect="1"/>
          </p:cNvPicPr>
          <p:nvPr/>
        </p:nvPicPr>
        <p:blipFill>
          <a:blip r:embed="rId2"/>
          <a:stretch>
            <a:fillRect/>
          </a:stretch>
        </p:blipFill>
        <p:spPr>
          <a:xfrm>
            <a:off x="1600495" y="1388153"/>
            <a:ext cx="3844568" cy="2286095"/>
          </a:xfrm>
          <a:prstGeom prst="rect">
            <a:avLst/>
          </a:prstGeom>
        </p:spPr>
      </p:pic>
      <p:pic>
        <p:nvPicPr>
          <p:cNvPr id="7" name="Picture 6">
            <a:extLst>
              <a:ext uri="{FF2B5EF4-FFF2-40B4-BE49-F238E27FC236}">
                <a16:creationId xmlns:a16="http://schemas.microsoft.com/office/drawing/2014/main" id="{5D742C26-B1AF-BC48-7B86-C2796CD25D01}"/>
              </a:ext>
            </a:extLst>
          </p:cNvPr>
          <p:cNvPicPr>
            <a:picLocks noChangeAspect="1"/>
          </p:cNvPicPr>
          <p:nvPr/>
        </p:nvPicPr>
        <p:blipFill>
          <a:blip r:embed="rId3"/>
          <a:stretch>
            <a:fillRect/>
          </a:stretch>
        </p:blipFill>
        <p:spPr>
          <a:xfrm>
            <a:off x="6096000" y="1398867"/>
            <a:ext cx="4095194" cy="2287981"/>
          </a:xfrm>
          <a:prstGeom prst="rect">
            <a:avLst/>
          </a:prstGeom>
        </p:spPr>
      </p:pic>
      <p:pic>
        <p:nvPicPr>
          <p:cNvPr id="8" name="Picture 7">
            <a:extLst>
              <a:ext uri="{FF2B5EF4-FFF2-40B4-BE49-F238E27FC236}">
                <a16:creationId xmlns:a16="http://schemas.microsoft.com/office/drawing/2014/main" id="{9576B712-0B59-8D9A-4FF3-1BA8C5009E64}"/>
              </a:ext>
            </a:extLst>
          </p:cNvPr>
          <p:cNvPicPr>
            <a:picLocks noChangeAspect="1"/>
          </p:cNvPicPr>
          <p:nvPr/>
        </p:nvPicPr>
        <p:blipFill>
          <a:blip r:embed="rId4"/>
          <a:stretch>
            <a:fillRect/>
          </a:stretch>
        </p:blipFill>
        <p:spPr>
          <a:xfrm>
            <a:off x="3920430" y="4470114"/>
            <a:ext cx="4196758" cy="2137654"/>
          </a:xfrm>
          <a:prstGeom prst="rect">
            <a:avLst/>
          </a:prstGeom>
        </p:spPr>
      </p:pic>
      <p:sp>
        <p:nvSpPr>
          <p:cNvPr id="9" name="TextBox 7">
            <a:extLst>
              <a:ext uri="{FF2B5EF4-FFF2-40B4-BE49-F238E27FC236}">
                <a16:creationId xmlns:a16="http://schemas.microsoft.com/office/drawing/2014/main" id="{F722F099-903A-B45A-4D79-395BBCE390D2}"/>
              </a:ext>
            </a:extLst>
          </p:cNvPr>
          <p:cNvSpPr txBox="1"/>
          <p:nvPr/>
        </p:nvSpPr>
        <p:spPr>
          <a:xfrm>
            <a:off x="3591732" y="3893815"/>
            <a:ext cx="5552789"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dirty="0"/>
              <a:t>Visualization of number of transactions per month</a:t>
            </a:r>
          </a:p>
        </p:txBody>
      </p:sp>
      <p:sp>
        <p:nvSpPr>
          <p:cNvPr id="14" name="TextBox 3">
            <a:extLst>
              <a:ext uri="{FF2B5EF4-FFF2-40B4-BE49-F238E27FC236}">
                <a16:creationId xmlns:a16="http://schemas.microsoft.com/office/drawing/2014/main" id="{F3822D2B-F8B3-210C-DA81-6B5F7612CA62}"/>
              </a:ext>
            </a:extLst>
          </p:cNvPr>
          <p:cNvSpPr txBox="1"/>
          <p:nvPr/>
        </p:nvSpPr>
        <p:spPr>
          <a:xfrm>
            <a:off x="1600495" y="926052"/>
            <a:ext cx="5552789"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dirty="0"/>
              <a:t>Top 10 categories by count</a:t>
            </a:r>
          </a:p>
        </p:txBody>
      </p:sp>
      <p:sp>
        <p:nvSpPr>
          <p:cNvPr id="15" name="TextBox 6">
            <a:extLst>
              <a:ext uri="{FF2B5EF4-FFF2-40B4-BE49-F238E27FC236}">
                <a16:creationId xmlns:a16="http://schemas.microsoft.com/office/drawing/2014/main" id="{3B697A1B-66E6-81C6-FA6F-467CF8EB2E0E}"/>
              </a:ext>
            </a:extLst>
          </p:cNvPr>
          <p:cNvSpPr txBox="1"/>
          <p:nvPr/>
        </p:nvSpPr>
        <p:spPr>
          <a:xfrm>
            <a:off x="6018809" y="926052"/>
            <a:ext cx="5552789"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dirty="0"/>
              <a:t>Top 10 brands by count</a:t>
            </a:r>
          </a:p>
        </p:txBody>
      </p:sp>
    </p:spTree>
    <p:extLst>
      <p:ext uri="{BB962C8B-B14F-4D97-AF65-F5344CB8AC3E}">
        <p14:creationId xmlns:p14="http://schemas.microsoft.com/office/powerpoint/2010/main" val="490291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04C77-F731-FCEC-DC6B-099C93C41183}"/>
              </a:ext>
            </a:extLst>
          </p:cNvPr>
          <p:cNvSpPr>
            <a:spLocks noGrp="1"/>
          </p:cNvSpPr>
          <p:nvPr>
            <p:ph type="title"/>
          </p:nvPr>
        </p:nvSpPr>
        <p:spPr>
          <a:xfrm>
            <a:off x="2880162" y="92316"/>
            <a:ext cx="10515600" cy="1325563"/>
          </a:xfrm>
        </p:spPr>
        <p:txBody>
          <a:bodyPr/>
          <a:lstStyle/>
          <a:p>
            <a:r>
              <a:rPr lang="en-US" dirty="0"/>
              <a:t>RFM Analysis</a:t>
            </a:r>
          </a:p>
        </p:txBody>
      </p:sp>
      <p:sp>
        <p:nvSpPr>
          <p:cNvPr id="6" name="TextBox 4">
            <a:extLst>
              <a:ext uri="{FF2B5EF4-FFF2-40B4-BE49-F238E27FC236}">
                <a16:creationId xmlns:a16="http://schemas.microsoft.com/office/drawing/2014/main" id="{DEED2C39-8FC9-BA6C-CCEF-D3097C3EA473}"/>
              </a:ext>
            </a:extLst>
          </p:cNvPr>
          <p:cNvSpPr txBox="1"/>
          <p:nvPr/>
        </p:nvSpPr>
        <p:spPr>
          <a:xfrm>
            <a:off x="5710084" y="1932515"/>
            <a:ext cx="3937819" cy="160043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b="0" i="0" dirty="0">
                <a:solidFill>
                  <a:srgbClr val="0D0D0D"/>
                </a:solidFill>
                <a:effectLst/>
                <a:latin typeface="Times New Roman" panose="02020603050405020304" pitchFamily="18" charset="0"/>
                <a:cs typeface="Times New Roman" panose="02020603050405020304" pitchFamily="18" charset="0"/>
              </a:rPr>
              <a:t>RFM stands for Recency, Frequency, and Monetary Value, a customer segmentation technique widely used in marketing and retail.</a:t>
            </a:r>
          </a:p>
          <a:p>
            <a:endParaRPr lang="en-IN" dirty="0"/>
          </a:p>
        </p:txBody>
      </p:sp>
      <p:sp>
        <p:nvSpPr>
          <p:cNvPr id="7" name="TextBox 5">
            <a:extLst>
              <a:ext uri="{FF2B5EF4-FFF2-40B4-BE49-F238E27FC236}">
                <a16:creationId xmlns:a16="http://schemas.microsoft.com/office/drawing/2014/main" id="{9B656CAA-FB9D-C23E-FCD1-8A3308611CBA}"/>
              </a:ext>
            </a:extLst>
          </p:cNvPr>
          <p:cNvSpPr txBox="1"/>
          <p:nvPr/>
        </p:nvSpPr>
        <p:spPr>
          <a:xfrm>
            <a:off x="5711555" y="1425506"/>
            <a:ext cx="2148289" cy="430887"/>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sz="2200" b="1" dirty="0">
                <a:latin typeface="Times New Roman" panose="02020603050405020304" pitchFamily="18" charset="0"/>
                <a:cs typeface="Times New Roman" panose="02020603050405020304" pitchFamily="18" charset="0"/>
              </a:rPr>
              <a:t>RFM Definition</a:t>
            </a:r>
          </a:p>
        </p:txBody>
      </p:sp>
      <p:pic>
        <p:nvPicPr>
          <p:cNvPr id="8" name="Picture 7">
            <a:extLst>
              <a:ext uri="{FF2B5EF4-FFF2-40B4-BE49-F238E27FC236}">
                <a16:creationId xmlns:a16="http://schemas.microsoft.com/office/drawing/2014/main" id="{42EAB4CA-40E8-4FD1-044A-ACCBAA9122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244" y="1424474"/>
            <a:ext cx="4376469" cy="272027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9">
            <a:extLst>
              <a:ext uri="{FF2B5EF4-FFF2-40B4-BE49-F238E27FC236}">
                <a16:creationId xmlns:a16="http://schemas.microsoft.com/office/drawing/2014/main" id="{6C4637BD-A1D6-02B2-25B5-5025BB504D10}"/>
              </a:ext>
            </a:extLst>
          </p:cNvPr>
          <p:cNvSpPr txBox="1"/>
          <p:nvPr/>
        </p:nvSpPr>
        <p:spPr>
          <a:xfrm>
            <a:off x="888066" y="4379549"/>
            <a:ext cx="8708922" cy="369332"/>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b="0" i="0" dirty="0">
                <a:solidFill>
                  <a:srgbClr val="0D0D0D"/>
                </a:solidFill>
                <a:effectLst/>
                <a:latin typeface="Times New Roman" panose="02020603050405020304" pitchFamily="18" charset="0"/>
                <a:cs typeface="Times New Roman" panose="02020603050405020304" pitchFamily="18" charset="0"/>
              </a:rPr>
              <a:t>It segments customers based on their transaction behavior, focusing on three key metrics:</a:t>
            </a:r>
          </a:p>
        </p:txBody>
      </p:sp>
      <p:sp>
        <p:nvSpPr>
          <p:cNvPr id="10" name="TextBox 12">
            <a:extLst>
              <a:ext uri="{FF2B5EF4-FFF2-40B4-BE49-F238E27FC236}">
                <a16:creationId xmlns:a16="http://schemas.microsoft.com/office/drawing/2014/main" id="{13048054-2B39-A55B-DEE8-851FECA88034}"/>
              </a:ext>
            </a:extLst>
          </p:cNvPr>
          <p:cNvSpPr txBox="1"/>
          <p:nvPr/>
        </p:nvSpPr>
        <p:spPr>
          <a:xfrm>
            <a:off x="1477986" y="5036823"/>
            <a:ext cx="1520853"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800" b="1" i="0" dirty="0">
                <a:solidFill>
                  <a:srgbClr val="0D0D0D"/>
                </a:solidFill>
                <a:effectLst/>
                <a:latin typeface="Times New Roman" panose="02020603050405020304" pitchFamily="18" charset="0"/>
                <a:cs typeface="Times New Roman" panose="02020603050405020304" pitchFamily="18" charset="0"/>
              </a:rPr>
              <a:t>Recency</a:t>
            </a:r>
            <a:endParaRPr lang="en-IN" b="1" dirty="0"/>
          </a:p>
        </p:txBody>
      </p:sp>
      <p:sp>
        <p:nvSpPr>
          <p:cNvPr id="11" name="TextBox 13">
            <a:extLst>
              <a:ext uri="{FF2B5EF4-FFF2-40B4-BE49-F238E27FC236}">
                <a16:creationId xmlns:a16="http://schemas.microsoft.com/office/drawing/2014/main" id="{DD7EECED-D02A-25A1-879D-444564E5091B}"/>
              </a:ext>
            </a:extLst>
          </p:cNvPr>
          <p:cNvSpPr txBox="1"/>
          <p:nvPr/>
        </p:nvSpPr>
        <p:spPr>
          <a:xfrm>
            <a:off x="838200" y="5463240"/>
            <a:ext cx="2041962" cy="120032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800" b="0" i="0" dirty="0">
                <a:solidFill>
                  <a:srgbClr val="0D0D0D"/>
                </a:solidFill>
                <a:effectLst/>
                <a:latin typeface="Times New Roman" panose="02020603050405020304" pitchFamily="18" charset="0"/>
                <a:cs typeface="Times New Roman" panose="02020603050405020304" pitchFamily="18" charset="0"/>
              </a:rPr>
              <a:t>How recently a customer made a purchase.</a:t>
            </a:r>
          </a:p>
          <a:p>
            <a:endParaRPr lang="en-IN" dirty="0"/>
          </a:p>
        </p:txBody>
      </p:sp>
      <p:sp>
        <p:nvSpPr>
          <p:cNvPr id="12" name="TextBox 18">
            <a:extLst>
              <a:ext uri="{FF2B5EF4-FFF2-40B4-BE49-F238E27FC236}">
                <a16:creationId xmlns:a16="http://schemas.microsoft.com/office/drawing/2014/main" id="{842F32B9-AF9C-7232-54D5-15A0DBE77E29}"/>
              </a:ext>
            </a:extLst>
          </p:cNvPr>
          <p:cNvSpPr txBox="1"/>
          <p:nvPr/>
        </p:nvSpPr>
        <p:spPr>
          <a:xfrm>
            <a:off x="4791958" y="5043753"/>
            <a:ext cx="1520853"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800" b="1" i="0" kern="1200" dirty="0">
                <a:solidFill>
                  <a:srgbClr val="0D0D0D"/>
                </a:solidFill>
                <a:effectLst/>
                <a:latin typeface="Times New Roman" panose="02020603050405020304" pitchFamily="18" charset="0"/>
                <a:ea typeface="+mn-ea"/>
                <a:cs typeface="Times New Roman" panose="02020603050405020304" pitchFamily="18" charset="0"/>
              </a:rPr>
              <a:t>Frequency</a:t>
            </a:r>
            <a:endParaRPr lang="en-IN" b="1" dirty="0"/>
          </a:p>
        </p:txBody>
      </p:sp>
      <p:sp>
        <p:nvSpPr>
          <p:cNvPr id="13" name="TextBox 19">
            <a:extLst>
              <a:ext uri="{FF2B5EF4-FFF2-40B4-BE49-F238E27FC236}">
                <a16:creationId xmlns:a16="http://schemas.microsoft.com/office/drawing/2014/main" id="{8D637F82-AF8D-D734-C853-325B28F2D92F}"/>
              </a:ext>
            </a:extLst>
          </p:cNvPr>
          <p:cNvSpPr txBox="1"/>
          <p:nvPr/>
        </p:nvSpPr>
        <p:spPr>
          <a:xfrm>
            <a:off x="4380956" y="5463240"/>
            <a:ext cx="1897626" cy="1200329"/>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800" b="0" i="0" dirty="0">
                <a:solidFill>
                  <a:srgbClr val="0D0D0D"/>
                </a:solidFill>
                <a:effectLst/>
                <a:latin typeface="Times New Roman" panose="02020603050405020304" pitchFamily="18" charset="0"/>
                <a:cs typeface="Times New Roman" panose="02020603050405020304" pitchFamily="18" charset="0"/>
              </a:rPr>
              <a:t>How often a customer makes a purchase.</a:t>
            </a:r>
          </a:p>
          <a:p>
            <a:endParaRPr lang="en-IN" dirty="0"/>
          </a:p>
        </p:txBody>
      </p:sp>
      <p:sp>
        <p:nvSpPr>
          <p:cNvPr id="14" name="TextBox 20">
            <a:extLst>
              <a:ext uri="{FF2B5EF4-FFF2-40B4-BE49-F238E27FC236}">
                <a16:creationId xmlns:a16="http://schemas.microsoft.com/office/drawing/2014/main" id="{E9F02086-63BD-D737-03E5-985F4B6329B1}"/>
              </a:ext>
            </a:extLst>
          </p:cNvPr>
          <p:cNvSpPr txBox="1"/>
          <p:nvPr/>
        </p:nvSpPr>
        <p:spPr>
          <a:xfrm>
            <a:off x="7785224" y="5036823"/>
            <a:ext cx="1897626" cy="36933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800" b="1" i="0" dirty="0">
                <a:solidFill>
                  <a:srgbClr val="0D0D0D"/>
                </a:solidFill>
                <a:effectLst/>
                <a:latin typeface="Times New Roman" panose="02020603050405020304" pitchFamily="18" charset="0"/>
                <a:cs typeface="Times New Roman" panose="02020603050405020304" pitchFamily="18" charset="0"/>
              </a:rPr>
              <a:t>Monetary Value</a:t>
            </a:r>
            <a:endParaRPr lang="en-IN" b="1" dirty="0"/>
          </a:p>
        </p:txBody>
      </p:sp>
      <p:sp>
        <p:nvSpPr>
          <p:cNvPr id="15" name="TextBox 21">
            <a:extLst>
              <a:ext uri="{FF2B5EF4-FFF2-40B4-BE49-F238E27FC236}">
                <a16:creationId xmlns:a16="http://schemas.microsoft.com/office/drawing/2014/main" id="{5E018A42-E648-890F-2683-C554175DAF89}"/>
              </a:ext>
            </a:extLst>
          </p:cNvPr>
          <p:cNvSpPr txBox="1"/>
          <p:nvPr/>
        </p:nvSpPr>
        <p:spPr>
          <a:xfrm>
            <a:off x="7433892" y="5456963"/>
            <a:ext cx="2163096" cy="92333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800" b="0" i="0" dirty="0">
                <a:solidFill>
                  <a:srgbClr val="0D0D0D"/>
                </a:solidFill>
                <a:effectLst/>
                <a:latin typeface="Times New Roman" panose="02020603050405020304" pitchFamily="18" charset="0"/>
                <a:cs typeface="Times New Roman" panose="02020603050405020304" pitchFamily="18" charset="0"/>
              </a:rPr>
              <a:t>How much money a customer spends on purchases</a:t>
            </a:r>
            <a:endParaRPr lang="en-IN" dirty="0"/>
          </a:p>
        </p:txBody>
      </p:sp>
      <p:pic>
        <p:nvPicPr>
          <p:cNvPr id="16" name="Picture 15">
            <a:extLst>
              <a:ext uri="{FF2B5EF4-FFF2-40B4-BE49-F238E27FC236}">
                <a16:creationId xmlns:a16="http://schemas.microsoft.com/office/drawing/2014/main" id="{887F83BB-D808-161C-7742-216417F67A74}"/>
              </a:ext>
            </a:extLst>
          </p:cNvPr>
          <p:cNvPicPr>
            <a:picLocks noChangeAspect="1"/>
          </p:cNvPicPr>
          <p:nvPr/>
        </p:nvPicPr>
        <p:blipFill>
          <a:blip r:embed="rId3"/>
          <a:stretch>
            <a:fillRect/>
          </a:stretch>
        </p:blipFill>
        <p:spPr>
          <a:xfrm>
            <a:off x="838200" y="4992929"/>
            <a:ext cx="581163" cy="457121"/>
          </a:xfrm>
          <a:prstGeom prst="rect">
            <a:avLst/>
          </a:prstGeom>
        </p:spPr>
      </p:pic>
      <p:pic>
        <p:nvPicPr>
          <p:cNvPr id="17" name="Picture 16">
            <a:extLst>
              <a:ext uri="{FF2B5EF4-FFF2-40B4-BE49-F238E27FC236}">
                <a16:creationId xmlns:a16="http://schemas.microsoft.com/office/drawing/2014/main" id="{C566F6D5-C6CB-4847-D9F5-36A33E852BAF}"/>
              </a:ext>
            </a:extLst>
          </p:cNvPr>
          <p:cNvPicPr>
            <a:picLocks noChangeAspect="1"/>
          </p:cNvPicPr>
          <p:nvPr/>
        </p:nvPicPr>
        <p:blipFill>
          <a:blip r:embed="rId4"/>
          <a:stretch>
            <a:fillRect/>
          </a:stretch>
        </p:blipFill>
        <p:spPr>
          <a:xfrm>
            <a:off x="4269739" y="5002178"/>
            <a:ext cx="485898" cy="447872"/>
          </a:xfrm>
          <a:prstGeom prst="rect">
            <a:avLst/>
          </a:prstGeom>
        </p:spPr>
      </p:pic>
      <p:pic>
        <p:nvPicPr>
          <p:cNvPr id="18" name="Picture 17">
            <a:extLst>
              <a:ext uri="{FF2B5EF4-FFF2-40B4-BE49-F238E27FC236}">
                <a16:creationId xmlns:a16="http://schemas.microsoft.com/office/drawing/2014/main" id="{8A76D271-7519-522A-2166-9A5F5DD7BA6A}"/>
              </a:ext>
            </a:extLst>
          </p:cNvPr>
          <p:cNvPicPr>
            <a:picLocks noChangeAspect="1"/>
          </p:cNvPicPr>
          <p:nvPr/>
        </p:nvPicPr>
        <p:blipFill>
          <a:blip r:embed="rId5"/>
          <a:stretch>
            <a:fillRect/>
          </a:stretch>
        </p:blipFill>
        <p:spPr>
          <a:xfrm>
            <a:off x="7154561" y="5004828"/>
            <a:ext cx="558662" cy="447873"/>
          </a:xfrm>
          <a:prstGeom prst="rect">
            <a:avLst/>
          </a:prstGeom>
        </p:spPr>
      </p:pic>
    </p:spTree>
    <p:extLst>
      <p:ext uri="{BB962C8B-B14F-4D97-AF65-F5344CB8AC3E}">
        <p14:creationId xmlns:p14="http://schemas.microsoft.com/office/powerpoint/2010/main" val="1306479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AB000-B5D4-CD62-5963-810D10B1E7BB}"/>
              </a:ext>
            </a:extLst>
          </p:cNvPr>
          <p:cNvSpPr>
            <a:spLocks noGrp="1"/>
          </p:cNvSpPr>
          <p:nvPr>
            <p:ph type="title"/>
          </p:nvPr>
        </p:nvSpPr>
        <p:spPr>
          <a:xfrm>
            <a:off x="3469640" y="71316"/>
            <a:ext cx="10515600" cy="1325563"/>
          </a:xfrm>
        </p:spPr>
        <p:txBody>
          <a:bodyPr/>
          <a:lstStyle/>
          <a:p>
            <a:r>
              <a:rPr lang="en-US" dirty="0"/>
              <a:t>RFM Analysis</a:t>
            </a:r>
          </a:p>
        </p:txBody>
      </p:sp>
      <p:sp>
        <p:nvSpPr>
          <p:cNvPr id="6" name="TextBox 4">
            <a:extLst>
              <a:ext uri="{FF2B5EF4-FFF2-40B4-BE49-F238E27FC236}">
                <a16:creationId xmlns:a16="http://schemas.microsoft.com/office/drawing/2014/main" id="{1CF4CE8E-0A1C-2EBE-120A-38DE17C1AB8A}"/>
              </a:ext>
            </a:extLst>
          </p:cNvPr>
          <p:cNvSpPr txBox="1"/>
          <p:nvPr/>
        </p:nvSpPr>
        <p:spPr>
          <a:xfrm>
            <a:off x="2764918" y="1476859"/>
            <a:ext cx="3165987" cy="67710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b="1" i="0" dirty="0">
                <a:solidFill>
                  <a:srgbClr val="0D0D0D"/>
                </a:solidFill>
                <a:effectLst/>
                <a:latin typeface="Times New Roman" panose="02020603050405020304" pitchFamily="18" charset="0"/>
                <a:cs typeface="Times New Roman" panose="02020603050405020304" pitchFamily="18" charset="0"/>
              </a:rPr>
              <a:t>Customer Segmentation</a:t>
            </a:r>
            <a:endParaRPr lang="en-IN" sz="2000" dirty="0">
              <a:latin typeface="Times New Roman" panose="02020603050405020304" pitchFamily="18" charset="0"/>
              <a:cs typeface="Times New Roman" panose="02020603050405020304" pitchFamily="18" charset="0"/>
            </a:endParaRPr>
          </a:p>
          <a:p>
            <a:endParaRPr lang="en-IN" dirty="0"/>
          </a:p>
        </p:txBody>
      </p:sp>
      <p:sp>
        <p:nvSpPr>
          <p:cNvPr id="7" name="TextBox 5">
            <a:extLst>
              <a:ext uri="{FF2B5EF4-FFF2-40B4-BE49-F238E27FC236}">
                <a16:creationId xmlns:a16="http://schemas.microsoft.com/office/drawing/2014/main" id="{183DF28F-A120-FD64-47A5-7311A175FF4C}"/>
              </a:ext>
            </a:extLst>
          </p:cNvPr>
          <p:cNvSpPr txBox="1"/>
          <p:nvPr/>
        </p:nvSpPr>
        <p:spPr>
          <a:xfrm>
            <a:off x="2378883" y="1947739"/>
            <a:ext cx="3293806" cy="147732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dirty="0">
                <a:solidFill>
                  <a:srgbClr val="0D0D0D"/>
                </a:solidFill>
                <a:effectLst/>
                <a:latin typeface="Times New Roman" panose="02020603050405020304" pitchFamily="18" charset="0"/>
                <a:cs typeface="Times New Roman" panose="02020603050405020304" pitchFamily="18" charset="0"/>
              </a:rPr>
              <a:t>RFM analysis helps in categorizing customers into distinct segments based on their transaction behavior.</a:t>
            </a:r>
          </a:p>
          <a:p>
            <a:endParaRPr lang="en-IN" dirty="0"/>
          </a:p>
        </p:txBody>
      </p:sp>
      <p:sp>
        <p:nvSpPr>
          <p:cNvPr id="8" name="TextBox 6">
            <a:extLst>
              <a:ext uri="{FF2B5EF4-FFF2-40B4-BE49-F238E27FC236}">
                <a16:creationId xmlns:a16="http://schemas.microsoft.com/office/drawing/2014/main" id="{AD18C3FD-C5FF-891A-BBB2-2C5DD0CE59D0}"/>
              </a:ext>
            </a:extLst>
          </p:cNvPr>
          <p:cNvSpPr txBox="1"/>
          <p:nvPr/>
        </p:nvSpPr>
        <p:spPr>
          <a:xfrm>
            <a:off x="7181609" y="1476859"/>
            <a:ext cx="2790354"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b="1" i="0" dirty="0">
                <a:solidFill>
                  <a:srgbClr val="0D0D0D"/>
                </a:solidFill>
                <a:effectLst/>
                <a:latin typeface="Times New Roman" panose="02020603050405020304" pitchFamily="18" charset="0"/>
                <a:cs typeface="Times New Roman" panose="02020603050405020304" pitchFamily="18" charset="0"/>
              </a:rPr>
              <a:t>Targeted Marketing</a:t>
            </a:r>
            <a:endParaRPr lang="en-IN" sz="2000" dirty="0">
              <a:latin typeface="Times New Roman" panose="02020603050405020304" pitchFamily="18" charset="0"/>
              <a:cs typeface="Times New Roman" panose="02020603050405020304" pitchFamily="18" charset="0"/>
            </a:endParaRPr>
          </a:p>
        </p:txBody>
      </p:sp>
      <p:sp>
        <p:nvSpPr>
          <p:cNvPr id="9" name="TextBox 7">
            <a:extLst>
              <a:ext uri="{FF2B5EF4-FFF2-40B4-BE49-F238E27FC236}">
                <a16:creationId xmlns:a16="http://schemas.microsoft.com/office/drawing/2014/main" id="{DCD970B4-1694-C136-4FED-A2E585546657}"/>
              </a:ext>
            </a:extLst>
          </p:cNvPr>
          <p:cNvSpPr txBox="1"/>
          <p:nvPr/>
        </p:nvSpPr>
        <p:spPr>
          <a:xfrm>
            <a:off x="6631572" y="1947739"/>
            <a:ext cx="3045993" cy="147732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dirty="0">
                <a:solidFill>
                  <a:srgbClr val="0D0D0D"/>
                </a:solidFill>
                <a:effectLst/>
                <a:latin typeface="Söhne"/>
              </a:rPr>
              <a:t>Allows for tailored marketing strategies by addressing the specific needs and preferences of each customer segment.</a:t>
            </a:r>
          </a:p>
          <a:p>
            <a:endParaRPr lang="en-IN" dirty="0"/>
          </a:p>
        </p:txBody>
      </p:sp>
      <p:sp>
        <p:nvSpPr>
          <p:cNvPr id="10" name="TextBox 8">
            <a:extLst>
              <a:ext uri="{FF2B5EF4-FFF2-40B4-BE49-F238E27FC236}">
                <a16:creationId xmlns:a16="http://schemas.microsoft.com/office/drawing/2014/main" id="{2B72FDA4-8782-DC38-11DF-DF88AA058C80}"/>
              </a:ext>
            </a:extLst>
          </p:cNvPr>
          <p:cNvSpPr txBox="1"/>
          <p:nvPr/>
        </p:nvSpPr>
        <p:spPr>
          <a:xfrm>
            <a:off x="2843575" y="3622926"/>
            <a:ext cx="2930013"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b="1" i="0" dirty="0">
                <a:solidFill>
                  <a:srgbClr val="0D0D0D"/>
                </a:solidFill>
                <a:effectLst/>
                <a:latin typeface="Times New Roman" panose="02020603050405020304" pitchFamily="18" charset="0"/>
                <a:cs typeface="Times New Roman" panose="02020603050405020304" pitchFamily="18" charset="0"/>
              </a:rPr>
              <a:t>Improved Engagement</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C0A4C4D-6E04-9207-29F7-1EBACAD72E24}"/>
              </a:ext>
            </a:extLst>
          </p:cNvPr>
          <p:cNvSpPr txBox="1"/>
          <p:nvPr/>
        </p:nvSpPr>
        <p:spPr>
          <a:xfrm>
            <a:off x="2328433" y="4060936"/>
            <a:ext cx="3759788" cy="147732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dirty="0">
                <a:solidFill>
                  <a:srgbClr val="0D0D0D"/>
                </a:solidFill>
                <a:effectLst/>
                <a:latin typeface="Söhne"/>
              </a:rPr>
              <a:t>Enables businesses to engage with customers more effectively by delivering personalized experiences and offers.</a:t>
            </a:r>
          </a:p>
          <a:p>
            <a:endParaRPr lang="en-IN" dirty="0"/>
          </a:p>
        </p:txBody>
      </p:sp>
      <p:sp>
        <p:nvSpPr>
          <p:cNvPr id="12" name="TextBox 11">
            <a:extLst>
              <a:ext uri="{FF2B5EF4-FFF2-40B4-BE49-F238E27FC236}">
                <a16:creationId xmlns:a16="http://schemas.microsoft.com/office/drawing/2014/main" id="{A743380B-A34B-D651-309F-533D1AF6B6F4}"/>
              </a:ext>
            </a:extLst>
          </p:cNvPr>
          <p:cNvSpPr txBox="1"/>
          <p:nvPr/>
        </p:nvSpPr>
        <p:spPr>
          <a:xfrm>
            <a:off x="7181609" y="3622926"/>
            <a:ext cx="2822428" cy="40011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b="1" i="0" dirty="0">
                <a:solidFill>
                  <a:srgbClr val="0D0D0D"/>
                </a:solidFill>
                <a:effectLst/>
                <a:latin typeface="Times New Roman" panose="02020603050405020304" pitchFamily="18" charset="0"/>
                <a:cs typeface="Times New Roman" panose="02020603050405020304" pitchFamily="18" charset="0"/>
              </a:rPr>
              <a:t>Enhanced Retention</a:t>
            </a:r>
            <a:endParaRPr lang="en-IN" sz="2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E37201AA-5335-25CD-5040-20CF00179283}"/>
              </a:ext>
            </a:extLst>
          </p:cNvPr>
          <p:cNvSpPr txBox="1"/>
          <p:nvPr/>
        </p:nvSpPr>
        <p:spPr>
          <a:xfrm>
            <a:off x="6631572" y="4060936"/>
            <a:ext cx="3244645" cy="147732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0" i="0" dirty="0">
                <a:solidFill>
                  <a:srgbClr val="0D0D0D"/>
                </a:solidFill>
                <a:effectLst/>
                <a:latin typeface="Söhne"/>
              </a:rPr>
              <a:t>Identifies high-value customers and facilitates efforts to retain them by offering incentives and personalized services.</a:t>
            </a:r>
          </a:p>
          <a:p>
            <a:endParaRPr lang="en-IN" dirty="0"/>
          </a:p>
        </p:txBody>
      </p:sp>
      <p:pic>
        <p:nvPicPr>
          <p:cNvPr id="14" name="Picture 13">
            <a:extLst>
              <a:ext uri="{FF2B5EF4-FFF2-40B4-BE49-F238E27FC236}">
                <a16:creationId xmlns:a16="http://schemas.microsoft.com/office/drawing/2014/main" id="{9D1D0190-CC57-7C29-C226-2D43EA253DA0}"/>
              </a:ext>
            </a:extLst>
          </p:cNvPr>
          <p:cNvPicPr>
            <a:picLocks noChangeAspect="1"/>
          </p:cNvPicPr>
          <p:nvPr/>
        </p:nvPicPr>
        <p:blipFill>
          <a:blip r:embed="rId2"/>
          <a:stretch>
            <a:fillRect/>
          </a:stretch>
        </p:blipFill>
        <p:spPr>
          <a:xfrm>
            <a:off x="2187962" y="1371539"/>
            <a:ext cx="647180" cy="62992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Picture 14">
            <a:extLst>
              <a:ext uri="{FF2B5EF4-FFF2-40B4-BE49-F238E27FC236}">
                <a16:creationId xmlns:a16="http://schemas.microsoft.com/office/drawing/2014/main" id="{444199E0-4539-1333-4393-DBAEF915F89E}"/>
              </a:ext>
            </a:extLst>
          </p:cNvPr>
          <p:cNvPicPr>
            <a:picLocks noChangeAspect="1"/>
          </p:cNvPicPr>
          <p:nvPr/>
        </p:nvPicPr>
        <p:blipFill>
          <a:blip r:embed="rId3"/>
          <a:stretch>
            <a:fillRect/>
          </a:stretch>
        </p:blipFill>
        <p:spPr>
          <a:xfrm>
            <a:off x="6518261" y="1319736"/>
            <a:ext cx="743054" cy="733527"/>
          </a:xfrm>
          <a:prstGeom prst="rect">
            <a:avLst/>
          </a:prstGeom>
        </p:spPr>
      </p:pic>
      <p:pic>
        <p:nvPicPr>
          <p:cNvPr id="16" name="Picture 15">
            <a:extLst>
              <a:ext uri="{FF2B5EF4-FFF2-40B4-BE49-F238E27FC236}">
                <a16:creationId xmlns:a16="http://schemas.microsoft.com/office/drawing/2014/main" id="{7AE2086B-76F1-DCE3-CD3A-86CA32D4D3CD}"/>
              </a:ext>
            </a:extLst>
          </p:cNvPr>
          <p:cNvPicPr>
            <a:picLocks noChangeAspect="1"/>
          </p:cNvPicPr>
          <p:nvPr/>
        </p:nvPicPr>
        <p:blipFill>
          <a:blip r:embed="rId4"/>
          <a:stretch>
            <a:fillRect/>
          </a:stretch>
        </p:blipFill>
        <p:spPr>
          <a:xfrm>
            <a:off x="2205136" y="3462967"/>
            <a:ext cx="733527" cy="714475"/>
          </a:xfrm>
          <a:prstGeom prst="rect">
            <a:avLst/>
          </a:prstGeom>
        </p:spPr>
      </p:pic>
      <p:pic>
        <p:nvPicPr>
          <p:cNvPr id="17" name="Picture 16">
            <a:extLst>
              <a:ext uri="{FF2B5EF4-FFF2-40B4-BE49-F238E27FC236}">
                <a16:creationId xmlns:a16="http://schemas.microsoft.com/office/drawing/2014/main" id="{8B067528-5AF6-48E9-33AF-5967B2205763}"/>
              </a:ext>
            </a:extLst>
          </p:cNvPr>
          <p:cNvPicPr>
            <a:picLocks noChangeAspect="1"/>
          </p:cNvPicPr>
          <p:nvPr/>
        </p:nvPicPr>
        <p:blipFill>
          <a:blip r:embed="rId5"/>
          <a:stretch>
            <a:fillRect/>
          </a:stretch>
        </p:blipFill>
        <p:spPr>
          <a:xfrm>
            <a:off x="6603998" y="3491545"/>
            <a:ext cx="657317" cy="657317"/>
          </a:xfrm>
          <a:prstGeom prst="rect">
            <a:avLst/>
          </a:prstGeom>
        </p:spPr>
      </p:pic>
    </p:spTree>
    <p:extLst>
      <p:ext uri="{BB962C8B-B14F-4D97-AF65-F5344CB8AC3E}">
        <p14:creationId xmlns:p14="http://schemas.microsoft.com/office/powerpoint/2010/main" val="3424464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CEBAE-E81F-D2C9-77AA-CED0EEC6EC31}"/>
              </a:ext>
            </a:extLst>
          </p:cNvPr>
          <p:cNvSpPr>
            <a:spLocks noGrp="1"/>
          </p:cNvSpPr>
          <p:nvPr>
            <p:ph type="title"/>
          </p:nvPr>
        </p:nvSpPr>
        <p:spPr/>
        <p:txBody>
          <a:bodyPr/>
          <a:lstStyle/>
          <a:p>
            <a:r>
              <a:rPr lang="en-US" dirty="0"/>
              <a:t>RFM Analysis</a:t>
            </a:r>
          </a:p>
        </p:txBody>
      </p:sp>
      <p:sp>
        <p:nvSpPr>
          <p:cNvPr id="3" name="Content Placeholder 2">
            <a:extLst>
              <a:ext uri="{FF2B5EF4-FFF2-40B4-BE49-F238E27FC236}">
                <a16:creationId xmlns:a16="http://schemas.microsoft.com/office/drawing/2014/main" id="{6020E4FF-AD6E-39FC-5FBB-0FC5DDE4E217}"/>
              </a:ext>
            </a:extLst>
          </p:cNvPr>
          <p:cNvSpPr>
            <a:spLocks noGrp="1"/>
          </p:cNvSpPr>
          <p:nvPr>
            <p:ph idx="1"/>
          </p:nvPr>
        </p:nvSpPr>
        <p:spPr/>
        <p:txBody>
          <a:bodyPr>
            <a:normAutofit fontScale="70000" lnSpcReduction="20000"/>
          </a:bodyPr>
          <a:lstStyle/>
          <a:p>
            <a:r>
              <a:rPr lang="en-US" b="0" i="0" dirty="0">
                <a:solidFill>
                  <a:srgbClr val="0D0D0D"/>
                </a:solidFill>
                <a:effectLst/>
                <a:latin typeface="Söhne"/>
              </a:rPr>
              <a:t>Recency is computed by subtracting the </a:t>
            </a:r>
            <a:r>
              <a:rPr lang="en-US" b="0" i="0" dirty="0" err="1">
                <a:solidFill>
                  <a:srgbClr val="0D0D0D"/>
                </a:solidFill>
                <a:effectLst/>
                <a:latin typeface="Söhne"/>
              </a:rPr>
              <a:t>month_key</a:t>
            </a:r>
            <a:r>
              <a:rPr lang="en-US" b="0" i="0" dirty="0">
                <a:solidFill>
                  <a:srgbClr val="0D0D0D"/>
                </a:solidFill>
                <a:effectLst/>
                <a:latin typeface="Söhne"/>
              </a:rPr>
              <a:t> representing the month of the last purchase from the maximum month value, providing a quantitative measure of the time elapsed since the last customer purchase</a:t>
            </a:r>
          </a:p>
          <a:p>
            <a:r>
              <a:rPr lang="en-US" b="0" i="0" dirty="0">
                <a:solidFill>
                  <a:srgbClr val="0D0D0D"/>
                </a:solidFill>
                <a:effectLst/>
                <a:latin typeface="Söhne"/>
              </a:rPr>
              <a:t>Frequency is determined by counting the number of unique </a:t>
            </a:r>
            <a:r>
              <a:rPr lang="en-US" b="0" i="0" dirty="0" err="1">
                <a:solidFill>
                  <a:srgbClr val="0D0D0D"/>
                </a:solidFill>
                <a:effectLst/>
                <a:latin typeface="Söhne"/>
              </a:rPr>
              <a:t>order_ids</a:t>
            </a:r>
            <a:r>
              <a:rPr lang="en-US" b="0" i="0" dirty="0">
                <a:solidFill>
                  <a:srgbClr val="0D0D0D"/>
                </a:solidFill>
                <a:effectLst/>
                <a:latin typeface="Söhne"/>
              </a:rPr>
              <a:t> for each </a:t>
            </a:r>
            <a:r>
              <a:rPr lang="en-US" b="0" i="0" dirty="0" err="1">
                <a:solidFill>
                  <a:srgbClr val="0D0D0D"/>
                </a:solidFill>
                <a:effectLst/>
                <a:latin typeface="Söhne"/>
              </a:rPr>
              <a:t>user_id</a:t>
            </a:r>
            <a:r>
              <a:rPr lang="en-US" b="0" i="0" dirty="0">
                <a:solidFill>
                  <a:srgbClr val="0D0D0D"/>
                </a:solidFill>
                <a:effectLst/>
                <a:latin typeface="Söhne"/>
              </a:rPr>
              <a:t>, indicating how often a customer makes purchases within a specific time period.</a:t>
            </a:r>
            <a:endParaRPr lang="en-US" dirty="0">
              <a:solidFill>
                <a:srgbClr val="0D0D0D"/>
              </a:solidFill>
              <a:latin typeface="Söhne"/>
            </a:endParaRPr>
          </a:p>
          <a:p>
            <a:r>
              <a:rPr lang="en-US" b="0" i="0" dirty="0">
                <a:solidFill>
                  <a:srgbClr val="0D0D0D"/>
                </a:solidFill>
                <a:effectLst/>
                <a:latin typeface="Söhne"/>
              </a:rPr>
              <a:t>Frequency is determined by counting the number of unique </a:t>
            </a:r>
            <a:r>
              <a:rPr lang="en-US" b="0" i="0" dirty="0" err="1">
                <a:solidFill>
                  <a:srgbClr val="0D0D0D"/>
                </a:solidFill>
                <a:effectLst/>
                <a:latin typeface="Söhne"/>
              </a:rPr>
              <a:t>order_ids</a:t>
            </a:r>
            <a:r>
              <a:rPr lang="en-US" b="0" i="0" dirty="0">
                <a:solidFill>
                  <a:srgbClr val="0D0D0D"/>
                </a:solidFill>
                <a:effectLst/>
                <a:latin typeface="Söhne"/>
              </a:rPr>
              <a:t> for each </a:t>
            </a:r>
            <a:r>
              <a:rPr lang="en-US" b="0" i="0" dirty="0" err="1">
                <a:solidFill>
                  <a:srgbClr val="0D0D0D"/>
                </a:solidFill>
                <a:effectLst/>
                <a:latin typeface="Söhne"/>
              </a:rPr>
              <a:t>user_id</a:t>
            </a:r>
            <a:r>
              <a:rPr lang="en-US" b="0" i="0" dirty="0">
                <a:solidFill>
                  <a:srgbClr val="0D0D0D"/>
                </a:solidFill>
                <a:effectLst/>
                <a:latin typeface="Söhne"/>
              </a:rPr>
              <a:t>, indicating how often a customer makes purchases within a specific time period.</a:t>
            </a:r>
          </a:p>
          <a:p>
            <a:r>
              <a:rPr lang="en-US" b="1" i="0" dirty="0">
                <a:solidFill>
                  <a:srgbClr val="0D0D0D"/>
                </a:solidFill>
                <a:effectLst/>
                <a:latin typeface="Söhne"/>
              </a:rPr>
              <a:t>Merging RFM with Order Frequency and Monetary Value</a:t>
            </a:r>
            <a:r>
              <a:rPr lang="en-US" b="0" i="0" dirty="0">
                <a:solidFill>
                  <a:srgbClr val="0D0D0D"/>
                </a:solidFill>
                <a:effectLst/>
                <a:latin typeface="Söhne"/>
              </a:rPr>
              <a:t>: Combining the RFM </a:t>
            </a:r>
            <a:r>
              <a:rPr lang="en-US" b="0" i="0" dirty="0" err="1">
                <a:solidFill>
                  <a:srgbClr val="0D0D0D"/>
                </a:solidFill>
                <a:effectLst/>
                <a:latin typeface="Söhne"/>
              </a:rPr>
              <a:t>DataFrame</a:t>
            </a:r>
            <a:r>
              <a:rPr lang="en-US" b="0" i="0" dirty="0">
                <a:solidFill>
                  <a:srgbClr val="0D0D0D"/>
                </a:solidFill>
                <a:effectLst/>
                <a:latin typeface="Söhne"/>
              </a:rPr>
              <a:t> with the order count and total monetary value </a:t>
            </a:r>
            <a:r>
              <a:rPr lang="en-US" b="0" i="0" dirty="0" err="1">
                <a:solidFill>
                  <a:srgbClr val="0D0D0D"/>
                </a:solidFill>
                <a:effectLst/>
                <a:latin typeface="Söhne"/>
              </a:rPr>
              <a:t>DataFrames</a:t>
            </a:r>
            <a:r>
              <a:rPr lang="en-US" b="0" i="0" dirty="0">
                <a:solidFill>
                  <a:srgbClr val="0D0D0D"/>
                </a:solidFill>
                <a:effectLst/>
                <a:latin typeface="Söhne"/>
              </a:rPr>
              <a:t> based on the '</a:t>
            </a:r>
            <a:r>
              <a:rPr lang="en-US" b="0" i="0" dirty="0" err="1">
                <a:solidFill>
                  <a:srgbClr val="0D0D0D"/>
                </a:solidFill>
                <a:effectLst/>
                <a:latin typeface="Söhne"/>
              </a:rPr>
              <a:t>user_id</a:t>
            </a:r>
            <a:r>
              <a:rPr lang="en-US" b="0" i="0" dirty="0">
                <a:solidFill>
                  <a:srgbClr val="0D0D0D"/>
                </a:solidFill>
                <a:effectLst/>
                <a:latin typeface="Söhne"/>
              </a:rPr>
              <a:t>' column to enrich the dataset with additional metrics.</a:t>
            </a:r>
          </a:p>
          <a:p>
            <a:r>
              <a:rPr lang="en-US" b="1" i="0" dirty="0">
                <a:solidFill>
                  <a:srgbClr val="0D0D0D"/>
                </a:solidFill>
                <a:effectLst/>
                <a:latin typeface="Söhne"/>
              </a:rPr>
              <a:t>Data Integrity Check</a:t>
            </a:r>
            <a:r>
              <a:rPr lang="en-US" b="0" i="0" dirty="0">
                <a:solidFill>
                  <a:srgbClr val="0D0D0D"/>
                </a:solidFill>
                <a:effectLst/>
                <a:latin typeface="Söhne"/>
              </a:rPr>
              <a:t>: Evaluating the RFM data integrity by counting non-null values in the 'Recency' column and filtering for non-zero recency values to ensure the dataset's completeness and relevance.</a:t>
            </a:r>
          </a:p>
          <a:p>
            <a:endParaRPr lang="en-US" dirty="0"/>
          </a:p>
        </p:txBody>
      </p:sp>
    </p:spTree>
    <p:extLst>
      <p:ext uri="{BB962C8B-B14F-4D97-AF65-F5344CB8AC3E}">
        <p14:creationId xmlns:p14="http://schemas.microsoft.com/office/powerpoint/2010/main" val="2653831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2561E-8F21-A498-60F1-7DDC6D3C3680}"/>
              </a:ext>
            </a:extLst>
          </p:cNvPr>
          <p:cNvSpPr>
            <a:spLocks noGrp="1"/>
          </p:cNvSpPr>
          <p:nvPr>
            <p:ph type="title"/>
          </p:nvPr>
        </p:nvSpPr>
        <p:spPr/>
        <p:txBody>
          <a:bodyPr/>
          <a:lstStyle/>
          <a:p>
            <a:r>
              <a:rPr lang="en-US" dirty="0"/>
              <a:t>Building a Model</a:t>
            </a:r>
          </a:p>
        </p:txBody>
      </p:sp>
      <p:sp>
        <p:nvSpPr>
          <p:cNvPr id="3" name="Content Placeholder 2">
            <a:extLst>
              <a:ext uri="{FF2B5EF4-FFF2-40B4-BE49-F238E27FC236}">
                <a16:creationId xmlns:a16="http://schemas.microsoft.com/office/drawing/2014/main" id="{BB4DA75D-9443-0A8F-35CC-3CA75AEB6789}"/>
              </a:ext>
            </a:extLst>
          </p:cNvPr>
          <p:cNvSpPr>
            <a:spLocks noGrp="1"/>
          </p:cNvSpPr>
          <p:nvPr>
            <p:ph idx="1"/>
          </p:nvPr>
        </p:nvSpPr>
        <p:spPr/>
        <p:txBody>
          <a:bodyPr>
            <a:normAutofit fontScale="85000" lnSpcReduction="20000"/>
          </a:bodyPr>
          <a:lstStyle/>
          <a:p>
            <a:r>
              <a:rPr lang="en-US" b="0" i="0" dirty="0">
                <a:solidFill>
                  <a:srgbClr val="0D0D0D"/>
                </a:solidFill>
                <a:effectLst/>
                <a:latin typeface="Söhne"/>
              </a:rPr>
              <a:t>Selected relevant features for clustering, including 'Recency', 'Frequency', and 'Monetary Value', crucial for customer segmentation based on their purchasing behavior.</a:t>
            </a:r>
          </a:p>
          <a:p>
            <a:r>
              <a:rPr lang="en-US" b="1" i="0" dirty="0">
                <a:solidFill>
                  <a:srgbClr val="0D0D0D"/>
                </a:solidFill>
                <a:effectLst/>
                <a:latin typeface="Söhne"/>
              </a:rPr>
              <a:t>Pipeline Creation</a:t>
            </a:r>
            <a:r>
              <a:rPr lang="en-US" b="0" i="0" dirty="0">
                <a:solidFill>
                  <a:srgbClr val="0D0D0D"/>
                </a:solidFill>
                <a:effectLst/>
                <a:latin typeface="Söhne"/>
              </a:rPr>
              <a:t>: Constructed a data processing pipeline using </a:t>
            </a:r>
            <a:r>
              <a:rPr lang="en-US" b="0" i="0" dirty="0" err="1">
                <a:solidFill>
                  <a:srgbClr val="0D0D0D"/>
                </a:solidFill>
                <a:effectLst/>
                <a:latin typeface="Söhne"/>
              </a:rPr>
              <a:t>PySpark</a:t>
            </a:r>
            <a:r>
              <a:rPr lang="en-US" b="0" i="0" dirty="0">
                <a:solidFill>
                  <a:srgbClr val="0D0D0D"/>
                </a:solidFill>
                <a:effectLst/>
                <a:latin typeface="Söhne"/>
              </a:rPr>
              <a:t> ML components, such as </a:t>
            </a:r>
            <a:r>
              <a:rPr lang="en-US" b="0" i="0" dirty="0" err="1">
                <a:solidFill>
                  <a:srgbClr val="0D0D0D"/>
                </a:solidFill>
                <a:effectLst/>
                <a:latin typeface="Söhne"/>
              </a:rPr>
              <a:t>VectorAssembler</a:t>
            </a:r>
            <a:r>
              <a:rPr lang="en-US" b="0" i="0" dirty="0">
                <a:solidFill>
                  <a:srgbClr val="0D0D0D"/>
                </a:solidFill>
                <a:effectLst/>
                <a:latin typeface="Söhne"/>
              </a:rPr>
              <a:t> for feature vectorization, </a:t>
            </a:r>
            <a:r>
              <a:rPr lang="en-US" b="0" i="0" dirty="0" err="1">
                <a:solidFill>
                  <a:srgbClr val="0D0D0D"/>
                </a:solidFill>
                <a:effectLst/>
                <a:latin typeface="Söhne"/>
              </a:rPr>
              <a:t>StandardScaler</a:t>
            </a:r>
            <a:r>
              <a:rPr lang="en-US" b="0" i="0" dirty="0">
                <a:solidFill>
                  <a:srgbClr val="0D0D0D"/>
                </a:solidFill>
                <a:effectLst/>
                <a:latin typeface="Söhne"/>
              </a:rPr>
              <a:t> for feature scaling, and </a:t>
            </a:r>
            <a:r>
              <a:rPr lang="en-US" b="0" i="0" dirty="0" err="1">
                <a:solidFill>
                  <a:srgbClr val="0D0D0D"/>
                </a:solidFill>
                <a:effectLst/>
                <a:latin typeface="Söhne"/>
              </a:rPr>
              <a:t>KMeans</a:t>
            </a:r>
            <a:r>
              <a:rPr lang="en-US" b="0" i="0" dirty="0">
                <a:solidFill>
                  <a:srgbClr val="0D0D0D"/>
                </a:solidFill>
                <a:effectLst/>
                <a:latin typeface="Söhne"/>
              </a:rPr>
              <a:t> for clustering, streamlining the preprocessing and modeling workflow.</a:t>
            </a:r>
          </a:p>
          <a:p>
            <a:r>
              <a:rPr lang="en-US" b="0" i="0" dirty="0">
                <a:solidFill>
                  <a:srgbClr val="0D0D0D"/>
                </a:solidFill>
                <a:effectLst/>
                <a:latin typeface="Söhne"/>
              </a:rPr>
              <a:t>Utilized the elbow method to determine the optimal number of clusters (k) for </a:t>
            </a:r>
            <a:r>
              <a:rPr lang="en-US" b="0" i="0" dirty="0" err="1">
                <a:solidFill>
                  <a:srgbClr val="0D0D0D"/>
                </a:solidFill>
                <a:effectLst/>
                <a:latin typeface="Söhne"/>
              </a:rPr>
              <a:t>KMeans</a:t>
            </a:r>
            <a:r>
              <a:rPr lang="en-US" b="0" i="0" dirty="0">
                <a:solidFill>
                  <a:srgbClr val="0D0D0D"/>
                </a:solidFill>
                <a:effectLst/>
                <a:latin typeface="Söhne"/>
              </a:rPr>
              <a:t> clustering by plotting the within-cluster sum of squares (WCSS) against different values of k. The point where the decrease in WCSS starts to slow down indicates the optimal number of clusters.</a:t>
            </a:r>
          </a:p>
          <a:p>
            <a:endParaRPr lang="en-US" dirty="0"/>
          </a:p>
        </p:txBody>
      </p:sp>
    </p:spTree>
    <p:extLst>
      <p:ext uri="{BB962C8B-B14F-4D97-AF65-F5344CB8AC3E}">
        <p14:creationId xmlns:p14="http://schemas.microsoft.com/office/powerpoint/2010/main" val="39473873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43" name="Top left">
            <a:extLst>
              <a:ext uri="{FF2B5EF4-FFF2-40B4-BE49-F238E27FC236}">
                <a16:creationId xmlns:a16="http://schemas.microsoft.com/office/drawing/2014/main" id="{34B438D8-EF7C-445C-8B7F-953BEB1BC1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44" name="Freeform: Shape 43">
              <a:extLst>
                <a:ext uri="{FF2B5EF4-FFF2-40B4-BE49-F238E27FC236}">
                  <a16:creationId xmlns:a16="http://schemas.microsoft.com/office/drawing/2014/main" id="{9FE087E2-E4B7-42FA-A441-7EDEE41B0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5" name="Freeform: Shape 44">
              <a:extLst>
                <a:ext uri="{FF2B5EF4-FFF2-40B4-BE49-F238E27FC236}">
                  <a16:creationId xmlns:a16="http://schemas.microsoft.com/office/drawing/2014/main" id="{A61B2EF2-665F-429A-9CFB-08C14FAC99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46" name="Freeform: Shape 45">
              <a:extLst>
                <a:ext uri="{FF2B5EF4-FFF2-40B4-BE49-F238E27FC236}">
                  <a16:creationId xmlns:a16="http://schemas.microsoft.com/office/drawing/2014/main" id="{0B0B1C71-6C49-4F64-8859-9CC59D7D9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47" name="Freeform: Shape 46">
              <a:extLst>
                <a:ext uri="{FF2B5EF4-FFF2-40B4-BE49-F238E27FC236}">
                  <a16:creationId xmlns:a16="http://schemas.microsoft.com/office/drawing/2014/main" id="{66BBF9FA-27D4-45DF-8D9C-623EA4106A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48" name="Freeform: Shape 47">
              <a:extLst>
                <a:ext uri="{FF2B5EF4-FFF2-40B4-BE49-F238E27FC236}">
                  <a16:creationId xmlns:a16="http://schemas.microsoft.com/office/drawing/2014/main" id="{0F2F0D01-71CB-4693-A192-5BA045A5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49" name="Freeform: Shape 48">
              <a:extLst>
                <a:ext uri="{FF2B5EF4-FFF2-40B4-BE49-F238E27FC236}">
                  <a16:creationId xmlns:a16="http://schemas.microsoft.com/office/drawing/2014/main" id="{E740E1FB-ACD1-41FC-9828-9B5D2CAA77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50" name="Freeform: Shape 49">
              <a:extLst>
                <a:ext uri="{FF2B5EF4-FFF2-40B4-BE49-F238E27FC236}">
                  <a16:creationId xmlns:a16="http://schemas.microsoft.com/office/drawing/2014/main" id="{12BABC85-DC43-42B8-8AAA-9198D7A62D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F48F9955-240E-4180-81B8-5909B1A91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44E8EB0D-77B0-1A34-3E12-B4C24A7396FC}"/>
              </a:ext>
            </a:extLst>
          </p:cNvPr>
          <p:cNvSpPr>
            <a:spLocks noGrp="1"/>
          </p:cNvSpPr>
          <p:nvPr>
            <p:ph type="title"/>
          </p:nvPr>
        </p:nvSpPr>
        <p:spPr>
          <a:xfrm>
            <a:off x="1198182" y="559813"/>
            <a:ext cx="3988369" cy="2236864"/>
          </a:xfrm>
        </p:spPr>
        <p:txBody>
          <a:bodyPr>
            <a:normAutofit/>
          </a:bodyPr>
          <a:lstStyle/>
          <a:p>
            <a:r>
              <a:rPr lang="en-US" dirty="0"/>
              <a:t>Elbow method for optimal k</a:t>
            </a:r>
          </a:p>
        </p:txBody>
      </p:sp>
      <p:sp>
        <p:nvSpPr>
          <p:cNvPr id="3" name="Content Placeholder 2">
            <a:extLst>
              <a:ext uri="{FF2B5EF4-FFF2-40B4-BE49-F238E27FC236}">
                <a16:creationId xmlns:a16="http://schemas.microsoft.com/office/drawing/2014/main" id="{04E667B9-5693-17CC-688C-176D8770A059}"/>
              </a:ext>
            </a:extLst>
          </p:cNvPr>
          <p:cNvSpPr>
            <a:spLocks noGrp="1"/>
          </p:cNvSpPr>
          <p:nvPr>
            <p:ph idx="1"/>
          </p:nvPr>
        </p:nvSpPr>
        <p:spPr>
          <a:xfrm>
            <a:off x="1185756" y="2955401"/>
            <a:ext cx="3988112" cy="3157686"/>
          </a:xfrm>
        </p:spPr>
        <p:txBody>
          <a:bodyPr>
            <a:normAutofit/>
          </a:bodyPr>
          <a:lstStyle/>
          <a:p>
            <a:r>
              <a:rPr lang="en-US" sz="1800" b="1" i="0">
                <a:effectLst/>
                <a:latin typeface="Söhne"/>
              </a:rPr>
              <a:t>KMeans Clustering with k=4</a:t>
            </a:r>
            <a:r>
              <a:rPr lang="en-US" sz="1800" b="0" i="0">
                <a:effectLst/>
                <a:latin typeface="Söhne"/>
              </a:rPr>
              <a:t>: Implemented KMeans clustering with k=4, indicating that the data would be segmented into four distinct clusters based on the features 'Recency', 'Frequency', and 'Monetary Value'.</a:t>
            </a:r>
          </a:p>
          <a:p>
            <a:endParaRPr lang="en-US" sz="1800" dirty="0"/>
          </a:p>
        </p:txBody>
      </p:sp>
      <p:pic>
        <p:nvPicPr>
          <p:cNvPr id="5" name="Content Placeholder 4">
            <a:extLst>
              <a:ext uri="{FF2B5EF4-FFF2-40B4-BE49-F238E27FC236}">
                <a16:creationId xmlns:a16="http://schemas.microsoft.com/office/drawing/2014/main" id="{F91B7961-4240-5CE0-69E6-C17034401960}"/>
              </a:ext>
            </a:extLst>
          </p:cNvPr>
          <p:cNvPicPr>
            <a:picLocks noChangeAspect="1"/>
          </p:cNvPicPr>
          <p:nvPr/>
        </p:nvPicPr>
        <p:blipFill>
          <a:blip r:embed="rId2"/>
          <a:stretch>
            <a:fillRect/>
          </a:stretch>
        </p:blipFill>
        <p:spPr>
          <a:xfrm>
            <a:off x="5602903" y="975289"/>
            <a:ext cx="6387190" cy="4902167"/>
          </a:xfrm>
          <a:prstGeom prst="rect">
            <a:avLst/>
          </a:prstGeom>
        </p:spPr>
      </p:pic>
      <p:grpSp>
        <p:nvGrpSpPr>
          <p:cNvPr id="53" name="Bottom Right">
            <a:extLst>
              <a:ext uri="{FF2B5EF4-FFF2-40B4-BE49-F238E27FC236}">
                <a16:creationId xmlns:a16="http://schemas.microsoft.com/office/drawing/2014/main" id="{284021E3-6F46-410C-BF43-B2DED73655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54" name="Freeform: Shape 53">
              <a:extLst>
                <a:ext uri="{FF2B5EF4-FFF2-40B4-BE49-F238E27FC236}">
                  <a16:creationId xmlns:a16="http://schemas.microsoft.com/office/drawing/2014/main" id="{A48AF179-3265-4A10-A62C-92B7E186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55" name="Graphic 157">
              <a:extLst>
                <a:ext uri="{FF2B5EF4-FFF2-40B4-BE49-F238E27FC236}">
                  <a16:creationId xmlns:a16="http://schemas.microsoft.com/office/drawing/2014/main" id="{30DF5C12-B34D-4E70-8FD0-D98069994E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57" name="Freeform: Shape 56">
                <a:extLst>
                  <a:ext uri="{FF2B5EF4-FFF2-40B4-BE49-F238E27FC236}">
                    <a16:creationId xmlns:a16="http://schemas.microsoft.com/office/drawing/2014/main" id="{9589785B-0300-4D1C-BEFB-DCA5AA045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58" name="Freeform: Shape 57">
                <a:extLst>
                  <a:ext uri="{FF2B5EF4-FFF2-40B4-BE49-F238E27FC236}">
                    <a16:creationId xmlns:a16="http://schemas.microsoft.com/office/drawing/2014/main" id="{7F41DF3E-3189-428F-B4FE-AACA35130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59" name="Freeform: Shape 58">
                <a:extLst>
                  <a:ext uri="{FF2B5EF4-FFF2-40B4-BE49-F238E27FC236}">
                    <a16:creationId xmlns:a16="http://schemas.microsoft.com/office/drawing/2014/main" id="{7C51D846-61EF-4EB5-BE03-65A572A2EA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0" name="Freeform: Shape 59">
                <a:extLst>
                  <a:ext uri="{FF2B5EF4-FFF2-40B4-BE49-F238E27FC236}">
                    <a16:creationId xmlns:a16="http://schemas.microsoft.com/office/drawing/2014/main" id="{C5417C86-AA6B-4AD4-BD75-694E8E073E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1" name="Freeform: Shape 60">
                <a:extLst>
                  <a:ext uri="{FF2B5EF4-FFF2-40B4-BE49-F238E27FC236}">
                    <a16:creationId xmlns:a16="http://schemas.microsoft.com/office/drawing/2014/main" id="{51D5067E-85F6-4202-AFB5-41F9C9EA7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2" name="Freeform: Shape 61">
                <a:extLst>
                  <a:ext uri="{FF2B5EF4-FFF2-40B4-BE49-F238E27FC236}">
                    <a16:creationId xmlns:a16="http://schemas.microsoft.com/office/drawing/2014/main" id="{A9598395-257E-4B18-949B-50F109866B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3" name="Freeform: Shape 62">
                <a:extLst>
                  <a:ext uri="{FF2B5EF4-FFF2-40B4-BE49-F238E27FC236}">
                    <a16:creationId xmlns:a16="http://schemas.microsoft.com/office/drawing/2014/main" id="{39DDA522-37EB-48B3-9B62-748F75D36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56" name="Freeform: Shape 55">
              <a:extLst>
                <a:ext uri="{FF2B5EF4-FFF2-40B4-BE49-F238E27FC236}">
                  <a16:creationId xmlns:a16="http://schemas.microsoft.com/office/drawing/2014/main" id="{B9D8F012-98AD-4320-BA44-DE1CE4E4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450337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7" name="Rectangle 66">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9" name="Rectangle 68">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71" name="Top left">
            <a:extLst>
              <a:ext uri="{FF2B5EF4-FFF2-40B4-BE49-F238E27FC236}">
                <a16:creationId xmlns:a16="http://schemas.microsoft.com/office/drawing/2014/main" id="{34B438D8-EF7C-445C-8B7F-953BEB1BC13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3086"/>
            <a:ext cx="2198951" cy="3349518"/>
            <a:chOff x="10849" y="-3086"/>
            <a:chExt cx="2198951" cy="3349518"/>
          </a:xfrm>
        </p:grpSpPr>
        <p:sp>
          <p:nvSpPr>
            <p:cNvPr id="72" name="Freeform: Shape 71">
              <a:extLst>
                <a:ext uri="{FF2B5EF4-FFF2-40B4-BE49-F238E27FC236}">
                  <a16:creationId xmlns:a16="http://schemas.microsoft.com/office/drawing/2014/main" id="{9FE087E2-E4B7-42FA-A441-7EDEE41B0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3" name="Freeform: Shape 72">
              <a:extLst>
                <a:ext uri="{FF2B5EF4-FFF2-40B4-BE49-F238E27FC236}">
                  <a16:creationId xmlns:a16="http://schemas.microsoft.com/office/drawing/2014/main" id="{A61B2EF2-665F-429A-9CFB-08C14FAC99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394" y="15241"/>
              <a:ext cx="2190406" cy="3331191"/>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50000"/>
                </a:schemeClr>
              </a:solidFill>
              <a:prstDash val="lgDash"/>
              <a:round/>
            </a:ln>
          </p:spPr>
          <p:txBody>
            <a:bodyPr rtlCol="0" anchor="ctr"/>
            <a:lstStyle/>
            <a:p>
              <a:endParaRPr lang="en-US"/>
            </a:p>
          </p:txBody>
        </p:sp>
        <p:sp>
          <p:nvSpPr>
            <p:cNvPr id="74" name="Freeform: Shape 73">
              <a:extLst>
                <a:ext uri="{FF2B5EF4-FFF2-40B4-BE49-F238E27FC236}">
                  <a16:creationId xmlns:a16="http://schemas.microsoft.com/office/drawing/2014/main" id="{0B0B1C71-6C49-4F64-8859-9CC59D7D98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978674" cy="307495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50000"/>
                </a:schemeClr>
              </a:solidFill>
              <a:prstDash val="lgDash"/>
              <a:round/>
            </a:ln>
          </p:spPr>
          <p:txBody>
            <a:bodyPr rtlCol="0" anchor="ctr"/>
            <a:lstStyle/>
            <a:p>
              <a:endParaRPr lang="en-US"/>
            </a:p>
          </p:txBody>
        </p:sp>
        <p:sp>
          <p:nvSpPr>
            <p:cNvPr id="75" name="Freeform: Shape 74">
              <a:extLst>
                <a:ext uri="{FF2B5EF4-FFF2-40B4-BE49-F238E27FC236}">
                  <a16:creationId xmlns:a16="http://schemas.microsoft.com/office/drawing/2014/main" id="{66BBF9FA-27D4-45DF-8D9C-623EA4106A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92" y="15178"/>
              <a:ext cx="1566146" cy="2737264"/>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50000"/>
                </a:schemeClr>
              </a:solidFill>
              <a:prstDash val="lgDash"/>
              <a:round/>
            </a:ln>
          </p:spPr>
          <p:txBody>
            <a:bodyPr rtlCol="0" anchor="ctr"/>
            <a:lstStyle/>
            <a:p>
              <a:endParaRPr lang="en-US"/>
            </a:p>
          </p:txBody>
        </p:sp>
        <p:sp>
          <p:nvSpPr>
            <p:cNvPr id="76" name="Freeform: Shape 75">
              <a:extLst>
                <a:ext uri="{FF2B5EF4-FFF2-40B4-BE49-F238E27FC236}">
                  <a16:creationId xmlns:a16="http://schemas.microsoft.com/office/drawing/2014/main" id="{0F2F0D01-71CB-4693-A192-5BA045A5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15178"/>
              <a:ext cx="1368431" cy="2644975"/>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50000"/>
                </a:schemeClr>
              </a:solidFill>
              <a:prstDash val="lgDash"/>
              <a:round/>
            </a:ln>
          </p:spPr>
          <p:txBody>
            <a:bodyPr rtlCol="0" anchor="ctr"/>
            <a:lstStyle/>
            <a:p>
              <a:endParaRPr lang="en-US"/>
            </a:p>
          </p:txBody>
        </p:sp>
        <p:sp>
          <p:nvSpPr>
            <p:cNvPr id="77" name="Freeform: Shape 76">
              <a:extLst>
                <a:ext uri="{FF2B5EF4-FFF2-40B4-BE49-F238E27FC236}">
                  <a16:creationId xmlns:a16="http://schemas.microsoft.com/office/drawing/2014/main" id="{E740E1FB-ACD1-41FC-9828-9B5D2CAA77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8825" y="543780"/>
              <a:ext cx="494287" cy="1905590"/>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50000"/>
                </a:schemeClr>
              </a:solidFill>
              <a:prstDash val="lgDash"/>
              <a:round/>
            </a:ln>
          </p:spPr>
          <p:txBody>
            <a:bodyPr rtlCol="0" anchor="ctr"/>
            <a:lstStyle/>
            <a:p>
              <a:endParaRPr lang="en-US"/>
            </a:p>
          </p:txBody>
        </p:sp>
        <p:sp>
          <p:nvSpPr>
            <p:cNvPr id="78" name="Freeform: Shape 77">
              <a:extLst>
                <a:ext uri="{FF2B5EF4-FFF2-40B4-BE49-F238E27FC236}">
                  <a16:creationId xmlns:a16="http://schemas.microsoft.com/office/drawing/2014/main" id="{12BABC85-DC43-42B8-8AAA-9198D7A62D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49" y="672286"/>
              <a:ext cx="396930" cy="1690303"/>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50000"/>
                </a:schemeClr>
              </a:solidFill>
              <a:prstDash val="lgDash"/>
              <a:round/>
            </a:ln>
          </p:spPr>
          <p:txBody>
            <a:bodyPr rtlCol="0" anchor="ctr"/>
            <a:lstStyle/>
            <a:p>
              <a:endParaRPr lang="en-US"/>
            </a:p>
          </p:txBody>
        </p:sp>
        <p:sp>
          <p:nvSpPr>
            <p:cNvPr id="79" name="Freeform: Shape 78">
              <a:extLst>
                <a:ext uri="{FF2B5EF4-FFF2-40B4-BE49-F238E27FC236}">
                  <a16:creationId xmlns:a16="http://schemas.microsoft.com/office/drawing/2014/main" id="{F48F9955-240E-4180-81B8-5909B1A91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002" y="881264"/>
              <a:ext cx="258791" cy="1336561"/>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50000"/>
                </a:schemeClr>
              </a:solidFill>
              <a:prstDash val="lgDash"/>
              <a:round/>
            </a:ln>
          </p:spPr>
          <p:txBody>
            <a:bodyPr rtlCol="0" anchor="ctr"/>
            <a:lstStyle/>
            <a:p>
              <a:endParaRPr lang="en-US" dirty="0"/>
            </a:p>
          </p:txBody>
        </p:sp>
      </p:grpSp>
      <p:sp>
        <p:nvSpPr>
          <p:cNvPr id="2" name="Title 1">
            <a:extLst>
              <a:ext uri="{FF2B5EF4-FFF2-40B4-BE49-F238E27FC236}">
                <a16:creationId xmlns:a16="http://schemas.microsoft.com/office/drawing/2014/main" id="{18D8A927-E01F-42F5-6AE0-A492A9EA1A55}"/>
              </a:ext>
            </a:extLst>
          </p:cNvPr>
          <p:cNvSpPr>
            <a:spLocks noGrp="1"/>
          </p:cNvSpPr>
          <p:nvPr>
            <p:ph type="title"/>
          </p:nvPr>
        </p:nvSpPr>
        <p:spPr>
          <a:xfrm>
            <a:off x="1198182" y="559813"/>
            <a:ext cx="3988369" cy="2236864"/>
          </a:xfrm>
        </p:spPr>
        <p:txBody>
          <a:bodyPr>
            <a:normAutofit/>
          </a:bodyPr>
          <a:lstStyle/>
          <a:p>
            <a:r>
              <a:rPr lang="en-US" dirty="0"/>
              <a:t>Cluster Visualization</a:t>
            </a:r>
          </a:p>
        </p:txBody>
      </p:sp>
      <p:sp>
        <p:nvSpPr>
          <p:cNvPr id="3" name="Content Placeholder 2">
            <a:extLst>
              <a:ext uri="{FF2B5EF4-FFF2-40B4-BE49-F238E27FC236}">
                <a16:creationId xmlns:a16="http://schemas.microsoft.com/office/drawing/2014/main" id="{F76CF63C-6919-865E-DDB2-0063DAD1EC93}"/>
              </a:ext>
            </a:extLst>
          </p:cNvPr>
          <p:cNvSpPr>
            <a:spLocks noGrp="1"/>
          </p:cNvSpPr>
          <p:nvPr>
            <p:ph idx="1"/>
          </p:nvPr>
        </p:nvSpPr>
        <p:spPr>
          <a:xfrm>
            <a:off x="1185756" y="2955401"/>
            <a:ext cx="3988112" cy="3157686"/>
          </a:xfrm>
        </p:spPr>
        <p:txBody>
          <a:bodyPr>
            <a:normAutofit/>
          </a:bodyPr>
          <a:lstStyle/>
          <a:p>
            <a:r>
              <a:rPr lang="en-US" sz="1800" b="1" i="0">
                <a:effectLst/>
                <a:latin typeface="Söhne"/>
              </a:rPr>
              <a:t>Cluster Visualization</a:t>
            </a:r>
            <a:r>
              <a:rPr lang="en-US" sz="1800" b="0" i="0">
                <a:effectLst/>
                <a:latin typeface="Söhne"/>
              </a:rPr>
              <a:t>: Visualized the distribution of users across clusters using a bar graph, providing insights into the size and distribution of each cluster.</a:t>
            </a:r>
          </a:p>
          <a:p>
            <a:endParaRPr lang="en-US" sz="1800" dirty="0"/>
          </a:p>
        </p:txBody>
      </p:sp>
      <p:pic>
        <p:nvPicPr>
          <p:cNvPr id="11" name="Content Placeholder 10">
            <a:extLst>
              <a:ext uri="{FF2B5EF4-FFF2-40B4-BE49-F238E27FC236}">
                <a16:creationId xmlns:a16="http://schemas.microsoft.com/office/drawing/2014/main" id="{0BC90C43-4194-A0C3-9AB6-8B98E8A30833}"/>
              </a:ext>
            </a:extLst>
          </p:cNvPr>
          <p:cNvPicPr>
            <a:picLocks noChangeAspect="1"/>
          </p:cNvPicPr>
          <p:nvPr/>
        </p:nvPicPr>
        <p:blipFill>
          <a:blip r:embed="rId2"/>
          <a:stretch>
            <a:fillRect/>
          </a:stretch>
        </p:blipFill>
        <p:spPr>
          <a:xfrm>
            <a:off x="5602903" y="1047145"/>
            <a:ext cx="6387190" cy="4758455"/>
          </a:xfrm>
          <a:prstGeom prst="rect">
            <a:avLst/>
          </a:prstGeom>
        </p:spPr>
      </p:pic>
      <p:grpSp>
        <p:nvGrpSpPr>
          <p:cNvPr id="81" name="Bottom Right">
            <a:extLst>
              <a:ext uri="{FF2B5EF4-FFF2-40B4-BE49-F238E27FC236}">
                <a16:creationId xmlns:a16="http://schemas.microsoft.com/office/drawing/2014/main" id="{284021E3-6F46-410C-BF43-B2DED73655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82" name="Freeform: Shape 81">
              <a:extLst>
                <a:ext uri="{FF2B5EF4-FFF2-40B4-BE49-F238E27FC236}">
                  <a16:creationId xmlns:a16="http://schemas.microsoft.com/office/drawing/2014/main" id="{A48AF179-3265-4A10-A62C-92B7E186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83" name="Graphic 157">
              <a:extLst>
                <a:ext uri="{FF2B5EF4-FFF2-40B4-BE49-F238E27FC236}">
                  <a16:creationId xmlns:a16="http://schemas.microsoft.com/office/drawing/2014/main" id="{30DF5C12-B34D-4E70-8FD0-D98069994E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85" name="Freeform: Shape 84">
                <a:extLst>
                  <a:ext uri="{FF2B5EF4-FFF2-40B4-BE49-F238E27FC236}">
                    <a16:creationId xmlns:a16="http://schemas.microsoft.com/office/drawing/2014/main" id="{9589785B-0300-4D1C-BEFB-DCA5AA045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86" name="Freeform: Shape 85">
                <a:extLst>
                  <a:ext uri="{FF2B5EF4-FFF2-40B4-BE49-F238E27FC236}">
                    <a16:creationId xmlns:a16="http://schemas.microsoft.com/office/drawing/2014/main" id="{7F41DF3E-3189-428F-B4FE-AACA351306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87" name="Freeform: Shape 86">
                <a:extLst>
                  <a:ext uri="{FF2B5EF4-FFF2-40B4-BE49-F238E27FC236}">
                    <a16:creationId xmlns:a16="http://schemas.microsoft.com/office/drawing/2014/main" id="{7C51D846-61EF-4EB5-BE03-65A572A2EA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88" name="Freeform: Shape 87">
                <a:extLst>
                  <a:ext uri="{FF2B5EF4-FFF2-40B4-BE49-F238E27FC236}">
                    <a16:creationId xmlns:a16="http://schemas.microsoft.com/office/drawing/2014/main" id="{C5417C86-AA6B-4AD4-BD75-694E8E073E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89" name="Freeform: Shape 88">
                <a:extLst>
                  <a:ext uri="{FF2B5EF4-FFF2-40B4-BE49-F238E27FC236}">
                    <a16:creationId xmlns:a16="http://schemas.microsoft.com/office/drawing/2014/main" id="{51D5067E-85F6-4202-AFB5-41F9C9EA74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90" name="Freeform: Shape 89">
                <a:extLst>
                  <a:ext uri="{FF2B5EF4-FFF2-40B4-BE49-F238E27FC236}">
                    <a16:creationId xmlns:a16="http://schemas.microsoft.com/office/drawing/2014/main" id="{A9598395-257E-4B18-949B-50F109866B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91" name="Freeform: Shape 90">
                <a:extLst>
                  <a:ext uri="{FF2B5EF4-FFF2-40B4-BE49-F238E27FC236}">
                    <a16:creationId xmlns:a16="http://schemas.microsoft.com/office/drawing/2014/main" id="{39DDA522-37EB-48B3-9B62-748F75D36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84" name="Freeform: Shape 83">
              <a:extLst>
                <a:ext uri="{FF2B5EF4-FFF2-40B4-BE49-F238E27FC236}">
                  <a16:creationId xmlns:a16="http://schemas.microsoft.com/office/drawing/2014/main" id="{B9D8F012-98AD-4320-BA44-DE1CE4E4D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903004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B7BA0-40C8-79DB-6082-F135E48AE018}"/>
              </a:ext>
            </a:extLst>
          </p:cNvPr>
          <p:cNvSpPr>
            <a:spLocks noGrp="1"/>
          </p:cNvSpPr>
          <p:nvPr>
            <p:ph type="title"/>
          </p:nvPr>
        </p:nvSpPr>
        <p:spPr/>
        <p:txBody>
          <a:bodyPr/>
          <a:lstStyle/>
          <a:p>
            <a:r>
              <a:rPr lang="en-US" dirty="0"/>
              <a:t>Cluster Analysis and Results</a:t>
            </a:r>
          </a:p>
        </p:txBody>
      </p:sp>
      <p:sp>
        <p:nvSpPr>
          <p:cNvPr id="3" name="Content Placeholder 2">
            <a:extLst>
              <a:ext uri="{FF2B5EF4-FFF2-40B4-BE49-F238E27FC236}">
                <a16:creationId xmlns:a16="http://schemas.microsoft.com/office/drawing/2014/main" id="{84B4F9B4-DAED-0362-1B0A-F059E4FBBA25}"/>
              </a:ext>
            </a:extLst>
          </p:cNvPr>
          <p:cNvSpPr>
            <a:spLocks noGrp="1"/>
          </p:cNvSpPr>
          <p:nvPr>
            <p:ph idx="1"/>
          </p:nvPr>
        </p:nvSpPr>
        <p:spPr/>
        <p:txBody>
          <a:bodyPr>
            <a:normAutofit/>
          </a:bodyPr>
          <a:lstStyle/>
          <a:p>
            <a:r>
              <a:rPr lang="en-US" b="0" i="0" dirty="0">
                <a:solidFill>
                  <a:srgbClr val="0D0D0D"/>
                </a:solidFill>
                <a:effectLst/>
                <a:latin typeface="Söhne"/>
              </a:rPr>
              <a:t>Utilized bar graphs to showcase the average values of the features ('Recency', 'Frequency', 'Monetary') for each cluster. This visualization helps in understanding the characteristics and differences between clusters, aiding in strategic decision-making for targeted marketing and customer engagement.</a:t>
            </a:r>
          </a:p>
          <a:p>
            <a:pPr marL="0" indent="0">
              <a:buNone/>
            </a:pPr>
            <a:endParaRPr lang="en-US" dirty="0"/>
          </a:p>
        </p:txBody>
      </p:sp>
    </p:spTree>
    <p:extLst>
      <p:ext uri="{BB962C8B-B14F-4D97-AF65-F5344CB8AC3E}">
        <p14:creationId xmlns:p14="http://schemas.microsoft.com/office/powerpoint/2010/main" val="746575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96C8BAF-68F3-4B78-B238-35DF5D865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4F4CD6D0-5A87-4BA2-A13A-0E40511C3C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4774" y="699565"/>
            <a:ext cx="3553132" cy="5156200"/>
            <a:chOff x="7807230" y="2012810"/>
            <a:chExt cx="3251252" cy="3459865"/>
          </a:xfrm>
        </p:grpSpPr>
        <p:sp>
          <p:nvSpPr>
            <p:cNvPr id="15" name="Rectangle 14">
              <a:extLst>
                <a:ext uri="{FF2B5EF4-FFF2-40B4-BE49-F238E27FC236}">
                  <a16:creationId xmlns:a16="http://schemas.microsoft.com/office/drawing/2014/main" id="{5877EAC0-2063-444D-8EE9-72FED2E03B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C155BF8-661A-4F4A-B4EC-923105C692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3" name="Picture 2" descr="A graph of a bar graph&#10;&#10;Description automatically generated">
            <a:extLst>
              <a:ext uri="{FF2B5EF4-FFF2-40B4-BE49-F238E27FC236}">
                <a16:creationId xmlns:a16="http://schemas.microsoft.com/office/drawing/2014/main" id="{78972871-DEA4-C499-2FF0-C6916364E170}"/>
              </a:ext>
            </a:extLst>
          </p:cNvPr>
          <p:cNvPicPr>
            <a:picLocks noChangeAspect="1"/>
          </p:cNvPicPr>
          <p:nvPr/>
        </p:nvPicPr>
        <p:blipFill>
          <a:blip r:embed="rId2"/>
          <a:stretch>
            <a:fillRect/>
          </a:stretch>
        </p:blipFill>
        <p:spPr>
          <a:xfrm>
            <a:off x="706568" y="2058038"/>
            <a:ext cx="3209544" cy="2439253"/>
          </a:xfrm>
          <a:prstGeom prst="rect">
            <a:avLst/>
          </a:prstGeom>
        </p:spPr>
      </p:pic>
      <p:grpSp>
        <p:nvGrpSpPr>
          <p:cNvPr id="18" name="Group 17">
            <a:extLst>
              <a:ext uri="{FF2B5EF4-FFF2-40B4-BE49-F238E27FC236}">
                <a16:creationId xmlns:a16="http://schemas.microsoft.com/office/drawing/2014/main" id="{E9537076-EF48-4F72-9164-FD8260D55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19434" y="699565"/>
            <a:ext cx="3553132" cy="5156200"/>
            <a:chOff x="7807230" y="2012810"/>
            <a:chExt cx="3251252" cy="3459865"/>
          </a:xfrm>
        </p:grpSpPr>
        <p:sp>
          <p:nvSpPr>
            <p:cNvPr id="19" name="Rectangle 18">
              <a:extLst>
                <a:ext uri="{FF2B5EF4-FFF2-40B4-BE49-F238E27FC236}">
                  <a16:creationId xmlns:a16="http://schemas.microsoft.com/office/drawing/2014/main" id="{689673CB-C48B-4D05-B6E4-B88CD5BAA0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6C31A20-B341-476E-8C04-A26C87E1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7" name="Picture 6" descr="A graph of a graph&#10;&#10;Description automatically generated">
            <a:extLst>
              <a:ext uri="{FF2B5EF4-FFF2-40B4-BE49-F238E27FC236}">
                <a16:creationId xmlns:a16="http://schemas.microsoft.com/office/drawing/2014/main" id="{37AF426C-C357-4DD5-7DEC-81A03BADD5AC}"/>
              </a:ext>
            </a:extLst>
          </p:cNvPr>
          <p:cNvPicPr>
            <a:picLocks noChangeAspect="1"/>
          </p:cNvPicPr>
          <p:nvPr/>
        </p:nvPicPr>
        <p:blipFill>
          <a:blip r:embed="rId3"/>
          <a:stretch>
            <a:fillRect/>
          </a:stretch>
        </p:blipFill>
        <p:spPr>
          <a:xfrm>
            <a:off x="4487333" y="2146301"/>
            <a:ext cx="3209544" cy="2262728"/>
          </a:xfrm>
          <a:prstGeom prst="rect">
            <a:avLst/>
          </a:prstGeom>
        </p:spPr>
      </p:pic>
      <p:grpSp>
        <p:nvGrpSpPr>
          <p:cNvPr id="22" name="Group 21">
            <a:extLst>
              <a:ext uri="{FF2B5EF4-FFF2-40B4-BE49-F238E27FC236}">
                <a16:creationId xmlns:a16="http://schemas.microsoft.com/office/drawing/2014/main" id="{6EFC3492-86BD-4D75-B5B4-C2DBFE0BD1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104093" y="699565"/>
            <a:ext cx="3553132" cy="5156200"/>
            <a:chOff x="7807230" y="2012810"/>
            <a:chExt cx="3251252" cy="3459865"/>
          </a:xfrm>
        </p:grpSpPr>
        <p:sp>
          <p:nvSpPr>
            <p:cNvPr id="23" name="Rectangle 22">
              <a:extLst>
                <a:ext uri="{FF2B5EF4-FFF2-40B4-BE49-F238E27FC236}">
                  <a16:creationId xmlns:a16="http://schemas.microsoft.com/office/drawing/2014/main" id="{F72E5074-2516-4705-BFF1-F508394A0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0" y="2012810"/>
              <a:ext cx="3251252" cy="3459865"/>
            </a:xfrm>
            <a:prstGeom prst="rect">
              <a:avLst/>
            </a:prstGeom>
            <a:gradFill>
              <a:gsLst>
                <a:gs pos="0">
                  <a:srgbClr val="000001"/>
                </a:gs>
                <a:gs pos="100000">
                  <a:srgbClr val="191919"/>
                </a:gs>
              </a:gsLst>
            </a:gradFill>
            <a:ln w="76200" cmpd="sng">
              <a:noFill/>
              <a:miter lim="800000"/>
            </a:ln>
            <a:effectLst>
              <a:outerShdw blurRad="127000" dist="1905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2259E4C-F24C-4180-AEC3-76255D535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807231" y="2026142"/>
              <a:ext cx="3251250" cy="3440203"/>
            </a:xfrm>
            <a:prstGeom prst="rect">
              <a:avLst/>
            </a:prstGeom>
            <a:gradFill>
              <a:gsLst>
                <a:gs pos="0">
                  <a:srgbClr val="DADADA"/>
                </a:gs>
                <a:gs pos="100000">
                  <a:srgbClr val="FFFFFE"/>
                </a:gs>
              </a:gsLst>
              <a:lin ang="16200000" scaled="0"/>
            </a:gradFill>
            <a:ln w="762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w="38100" h="38100"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 name="Picture 4" descr="A graph of a number of clusters&#10;&#10;Description automatically generated">
            <a:extLst>
              <a:ext uri="{FF2B5EF4-FFF2-40B4-BE49-F238E27FC236}">
                <a16:creationId xmlns:a16="http://schemas.microsoft.com/office/drawing/2014/main" id="{89B48BE1-A254-A258-75ED-FB689CE0F2E4}"/>
              </a:ext>
            </a:extLst>
          </p:cNvPr>
          <p:cNvPicPr>
            <a:picLocks noChangeAspect="1"/>
          </p:cNvPicPr>
          <p:nvPr/>
        </p:nvPicPr>
        <p:blipFill>
          <a:blip r:embed="rId4"/>
          <a:stretch>
            <a:fillRect/>
          </a:stretch>
        </p:blipFill>
        <p:spPr>
          <a:xfrm>
            <a:off x="8275887" y="2162348"/>
            <a:ext cx="3209544" cy="2230633"/>
          </a:xfrm>
          <a:prstGeom prst="rect">
            <a:avLst/>
          </a:prstGeom>
        </p:spPr>
      </p:pic>
    </p:spTree>
    <p:extLst>
      <p:ext uri="{BB962C8B-B14F-4D97-AF65-F5344CB8AC3E}">
        <p14:creationId xmlns:p14="http://schemas.microsoft.com/office/powerpoint/2010/main" val="71963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7C7AC-B4BF-CE81-ADDB-446B39FB0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AD16E6-82F9-1B2E-E416-441138D8E3C9}"/>
              </a:ext>
            </a:extLst>
          </p:cNvPr>
          <p:cNvSpPr>
            <a:spLocks noGrp="1"/>
          </p:cNvSpPr>
          <p:nvPr>
            <p:ph type="title"/>
          </p:nvPr>
        </p:nvSpPr>
        <p:spPr/>
        <p:txBody>
          <a:bodyPr/>
          <a:lstStyle/>
          <a:p>
            <a:r>
              <a:rPr lang="en-IN" dirty="0"/>
              <a:t>System Architecture / Workflow</a:t>
            </a:r>
            <a:endParaRPr lang="en-US" dirty="0"/>
          </a:p>
        </p:txBody>
      </p:sp>
      <p:pic>
        <p:nvPicPr>
          <p:cNvPr id="7" name="Picture 6">
            <a:extLst>
              <a:ext uri="{FF2B5EF4-FFF2-40B4-BE49-F238E27FC236}">
                <a16:creationId xmlns:a16="http://schemas.microsoft.com/office/drawing/2014/main" id="{F6A33D2B-BEDB-A04A-3F9B-306821099E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720" y="1559863"/>
            <a:ext cx="9875520" cy="4618402"/>
          </a:xfrm>
          <a:prstGeom prst="rect">
            <a:avLst/>
          </a:prstGeom>
        </p:spPr>
      </p:pic>
    </p:spTree>
    <p:extLst>
      <p:ext uri="{BB962C8B-B14F-4D97-AF65-F5344CB8AC3E}">
        <p14:creationId xmlns:p14="http://schemas.microsoft.com/office/powerpoint/2010/main" val="2229376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6364F-D17A-606D-C995-4004D0BA77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5E5153-C46D-B0D3-DECE-A43351460655}"/>
              </a:ext>
            </a:extLst>
          </p:cNvPr>
          <p:cNvSpPr>
            <a:spLocks noGrp="1"/>
          </p:cNvSpPr>
          <p:nvPr>
            <p:ph type="title"/>
          </p:nvPr>
        </p:nvSpPr>
        <p:spPr/>
        <p:txBody>
          <a:bodyPr/>
          <a:lstStyle/>
          <a:p>
            <a:r>
              <a:rPr lang="en-IN" dirty="0" err="1"/>
              <a:t>Streamlit</a:t>
            </a:r>
            <a:r>
              <a:rPr lang="en-IN" dirty="0"/>
              <a:t> Application Overview”</a:t>
            </a:r>
            <a:endParaRPr lang="en-US" dirty="0"/>
          </a:p>
        </p:txBody>
      </p:sp>
      <p:sp>
        <p:nvSpPr>
          <p:cNvPr id="3" name="Content Placeholder 2">
            <a:extLst>
              <a:ext uri="{FF2B5EF4-FFF2-40B4-BE49-F238E27FC236}">
                <a16:creationId xmlns:a16="http://schemas.microsoft.com/office/drawing/2014/main" id="{AA0A3238-C65F-7342-D716-7A95593E78F4}"/>
              </a:ext>
            </a:extLst>
          </p:cNvPr>
          <p:cNvSpPr>
            <a:spLocks noGrp="1"/>
          </p:cNvSpPr>
          <p:nvPr>
            <p:ph idx="1"/>
          </p:nvPr>
        </p:nvSpPr>
        <p:spPr/>
        <p:txBody>
          <a:bodyPr>
            <a:normAutofit/>
          </a:bodyPr>
          <a:lstStyle/>
          <a:p>
            <a:pPr>
              <a:buFont typeface="Arial" panose="020B0604020202020204" pitchFamily="34" charset="0"/>
              <a:buChar char="•"/>
            </a:pPr>
            <a:r>
              <a:rPr lang="en-US" b="0" i="0" dirty="0">
                <a:solidFill>
                  <a:srgbClr val="0D0D0D"/>
                </a:solidFill>
                <a:effectLst/>
                <a:latin typeface="Söhne"/>
              </a:rPr>
              <a:t>Built an interactive dashboard using </a:t>
            </a:r>
            <a:r>
              <a:rPr lang="en-US" b="0" i="0" dirty="0" err="1">
                <a:solidFill>
                  <a:srgbClr val="0D0D0D"/>
                </a:solidFill>
                <a:effectLst/>
                <a:latin typeface="Söhne"/>
              </a:rPr>
              <a:t>Streamlit</a:t>
            </a:r>
            <a:endParaRPr lang="en-US" b="0" i="0" dirty="0">
              <a:solidFill>
                <a:srgbClr val="0D0D0D"/>
              </a:solidFill>
              <a:effectLst/>
              <a:latin typeface="Söhne"/>
            </a:endParaRPr>
          </a:p>
          <a:p>
            <a:pPr>
              <a:buFont typeface="Arial" panose="020B0604020202020204" pitchFamily="34" charset="0"/>
              <a:buChar char="•"/>
            </a:pPr>
            <a:r>
              <a:rPr lang="en-US" b="0" i="0" dirty="0">
                <a:solidFill>
                  <a:srgbClr val="0D0D0D"/>
                </a:solidFill>
                <a:effectLst/>
                <a:latin typeface="Söhne"/>
              </a:rPr>
              <a:t>Allows user to:</a:t>
            </a:r>
          </a:p>
          <a:p>
            <a:pPr lvl="1">
              <a:buFont typeface="Arial" panose="020B0604020202020204" pitchFamily="34" charset="0"/>
              <a:buChar char="•"/>
            </a:pPr>
            <a:r>
              <a:rPr lang="en-US" b="0" i="0" dirty="0">
                <a:solidFill>
                  <a:srgbClr val="0D0D0D"/>
                </a:solidFill>
                <a:effectLst/>
                <a:latin typeface="Söhne"/>
              </a:rPr>
              <a:t>Select customer ID</a:t>
            </a:r>
          </a:p>
          <a:p>
            <a:pPr lvl="1">
              <a:buFont typeface="Arial" panose="020B0604020202020204" pitchFamily="34" charset="0"/>
              <a:buChar char="•"/>
            </a:pPr>
            <a:r>
              <a:rPr lang="en-US" b="0" i="0" dirty="0">
                <a:solidFill>
                  <a:srgbClr val="0D0D0D"/>
                </a:solidFill>
                <a:effectLst/>
                <a:latin typeface="Söhne"/>
              </a:rPr>
              <a:t>View RFM metrics</a:t>
            </a:r>
          </a:p>
          <a:p>
            <a:pPr lvl="1">
              <a:buFont typeface="Arial" panose="020B0604020202020204" pitchFamily="34" charset="0"/>
              <a:buChar char="•"/>
            </a:pPr>
            <a:r>
              <a:rPr lang="en-US" b="0" i="0" dirty="0">
                <a:solidFill>
                  <a:srgbClr val="0D0D0D"/>
                </a:solidFill>
                <a:effectLst/>
                <a:latin typeface="Söhne"/>
              </a:rPr>
              <a:t>View transaction history</a:t>
            </a:r>
          </a:p>
          <a:p>
            <a:pPr lvl="1">
              <a:buFont typeface="Arial" panose="020B0604020202020204" pitchFamily="34" charset="0"/>
              <a:buChar char="•"/>
            </a:pPr>
            <a:r>
              <a:rPr lang="en-US" b="0" i="0" dirty="0">
                <a:solidFill>
                  <a:srgbClr val="0D0D0D"/>
                </a:solidFill>
                <a:effectLst/>
                <a:latin typeface="Söhne"/>
              </a:rPr>
              <a:t>Get business recommendations</a:t>
            </a:r>
            <a:endParaRPr lang="en-US" dirty="0"/>
          </a:p>
        </p:txBody>
      </p:sp>
    </p:spTree>
    <p:extLst>
      <p:ext uri="{BB962C8B-B14F-4D97-AF65-F5344CB8AC3E}">
        <p14:creationId xmlns:p14="http://schemas.microsoft.com/office/powerpoint/2010/main" val="29480943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06701-ACC2-D3D4-AB0C-D70869C2A9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44725-DE09-7FEC-85A8-BB94B689AD52}"/>
              </a:ext>
            </a:extLst>
          </p:cNvPr>
          <p:cNvSpPr>
            <a:spLocks noGrp="1"/>
          </p:cNvSpPr>
          <p:nvPr>
            <p:ph type="title"/>
          </p:nvPr>
        </p:nvSpPr>
        <p:spPr/>
        <p:txBody>
          <a:bodyPr/>
          <a:lstStyle/>
          <a:p>
            <a:r>
              <a:rPr lang="en-IN" dirty="0"/>
              <a:t>Dashboard – Customer Overview</a:t>
            </a:r>
            <a:endParaRPr lang="en-US" dirty="0"/>
          </a:p>
        </p:txBody>
      </p:sp>
      <p:pic>
        <p:nvPicPr>
          <p:cNvPr id="5" name="Picture 4">
            <a:extLst>
              <a:ext uri="{FF2B5EF4-FFF2-40B4-BE49-F238E27FC236}">
                <a16:creationId xmlns:a16="http://schemas.microsoft.com/office/drawing/2014/main" id="{057F60B9-DD03-C798-D056-BBF70D5FDF1E}"/>
              </a:ext>
            </a:extLst>
          </p:cNvPr>
          <p:cNvPicPr>
            <a:picLocks noChangeAspect="1"/>
          </p:cNvPicPr>
          <p:nvPr/>
        </p:nvPicPr>
        <p:blipFill>
          <a:blip r:embed="rId2"/>
          <a:stretch>
            <a:fillRect/>
          </a:stretch>
        </p:blipFill>
        <p:spPr>
          <a:xfrm>
            <a:off x="0" y="1432919"/>
            <a:ext cx="7579360" cy="2533081"/>
          </a:xfrm>
          <a:prstGeom prst="rect">
            <a:avLst/>
          </a:prstGeom>
        </p:spPr>
      </p:pic>
      <p:pic>
        <p:nvPicPr>
          <p:cNvPr id="9" name="Picture 8">
            <a:extLst>
              <a:ext uri="{FF2B5EF4-FFF2-40B4-BE49-F238E27FC236}">
                <a16:creationId xmlns:a16="http://schemas.microsoft.com/office/drawing/2014/main" id="{B7232066-8A64-740D-7CD4-EB27E768933E}"/>
              </a:ext>
            </a:extLst>
          </p:cNvPr>
          <p:cNvPicPr>
            <a:picLocks noChangeAspect="1"/>
          </p:cNvPicPr>
          <p:nvPr/>
        </p:nvPicPr>
        <p:blipFill>
          <a:blip r:embed="rId3"/>
          <a:stretch>
            <a:fillRect/>
          </a:stretch>
        </p:blipFill>
        <p:spPr>
          <a:xfrm>
            <a:off x="3789680" y="4411300"/>
            <a:ext cx="8344329" cy="1733639"/>
          </a:xfrm>
          <a:prstGeom prst="rect">
            <a:avLst/>
          </a:prstGeom>
        </p:spPr>
      </p:pic>
    </p:spTree>
    <p:extLst>
      <p:ext uri="{BB962C8B-B14F-4D97-AF65-F5344CB8AC3E}">
        <p14:creationId xmlns:p14="http://schemas.microsoft.com/office/powerpoint/2010/main" val="218520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B5E0E-6A7C-16AD-C7E4-E56F00E05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C3DA18-FFB9-B1DF-7412-5C271BC196FE}"/>
              </a:ext>
            </a:extLst>
          </p:cNvPr>
          <p:cNvSpPr>
            <a:spLocks noGrp="1"/>
          </p:cNvSpPr>
          <p:nvPr>
            <p:ph type="title"/>
          </p:nvPr>
        </p:nvSpPr>
        <p:spPr/>
        <p:txBody>
          <a:bodyPr/>
          <a:lstStyle/>
          <a:p>
            <a:r>
              <a:rPr lang="en-IN" dirty="0"/>
              <a:t>Dashboard – Customer Overview</a:t>
            </a:r>
            <a:endParaRPr lang="en-US" dirty="0"/>
          </a:p>
        </p:txBody>
      </p:sp>
      <p:pic>
        <p:nvPicPr>
          <p:cNvPr id="4" name="Picture 3">
            <a:extLst>
              <a:ext uri="{FF2B5EF4-FFF2-40B4-BE49-F238E27FC236}">
                <a16:creationId xmlns:a16="http://schemas.microsoft.com/office/drawing/2014/main" id="{0E8AC099-90CE-7AC3-5C59-3888F5065A10}"/>
              </a:ext>
            </a:extLst>
          </p:cNvPr>
          <p:cNvPicPr>
            <a:picLocks noChangeAspect="1"/>
          </p:cNvPicPr>
          <p:nvPr/>
        </p:nvPicPr>
        <p:blipFill>
          <a:blip r:embed="rId2"/>
          <a:stretch>
            <a:fillRect/>
          </a:stretch>
        </p:blipFill>
        <p:spPr>
          <a:xfrm>
            <a:off x="1" y="1387379"/>
            <a:ext cx="5938013" cy="2686782"/>
          </a:xfrm>
          <a:prstGeom prst="rect">
            <a:avLst/>
          </a:prstGeom>
        </p:spPr>
      </p:pic>
      <p:pic>
        <p:nvPicPr>
          <p:cNvPr id="7" name="Picture 6">
            <a:extLst>
              <a:ext uri="{FF2B5EF4-FFF2-40B4-BE49-F238E27FC236}">
                <a16:creationId xmlns:a16="http://schemas.microsoft.com/office/drawing/2014/main" id="{3FA14EE9-E067-5CC5-310F-C2DA6921F328}"/>
              </a:ext>
            </a:extLst>
          </p:cNvPr>
          <p:cNvPicPr>
            <a:picLocks noChangeAspect="1"/>
          </p:cNvPicPr>
          <p:nvPr/>
        </p:nvPicPr>
        <p:blipFill>
          <a:blip r:embed="rId3"/>
          <a:stretch>
            <a:fillRect/>
          </a:stretch>
        </p:blipFill>
        <p:spPr>
          <a:xfrm>
            <a:off x="4958080" y="4260515"/>
            <a:ext cx="7040880" cy="2503659"/>
          </a:xfrm>
          <a:prstGeom prst="rect">
            <a:avLst/>
          </a:prstGeom>
        </p:spPr>
      </p:pic>
    </p:spTree>
    <p:extLst>
      <p:ext uri="{BB962C8B-B14F-4D97-AF65-F5344CB8AC3E}">
        <p14:creationId xmlns:p14="http://schemas.microsoft.com/office/powerpoint/2010/main" val="2810655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0F7E5-0074-D500-A041-DD64CB3BB9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CF1AF6-5111-51DD-A309-97981C6A570F}"/>
              </a:ext>
            </a:extLst>
          </p:cNvPr>
          <p:cNvSpPr>
            <a:spLocks noGrp="1"/>
          </p:cNvSpPr>
          <p:nvPr>
            <p:ph type="title"/>
          </p:nvPr>
        </p:nvSpPr>
        <p:spPr/>
        <p:txBody>
          <a:bodyPr>
            <a:normAutofit fontScale="90000"/>
          </a:bodyPr>
          <a:lstStyle/>
          <a:p>
            <a:r>
              <a:rPr lang="en-US" dirty="0"/>
              <a:t>Integration of ML Model with Dashboard</a:t>
            </a:r>
          </a:p>
        </p:txBody>
      </p:sp>
      <p:sp>
        <p:nvSpPr>
          <p:cNvPr id="3" name="Content Placeholder 2">
            <a:extLst>
              <a:ext uri="{FF2B5EF4-FFF2-40B4-BE49-F238E27FC236}">
                <a16:creationId xmlns:a16="http://schemas.microsoft.com/office/drawing/2014/main" id="{C6C7FF6F-68D8-9EA6-259B-D2B5F594BC92}"/>
              </a:ext>
            </a:extLst>
          </p:cNvPr>
          <p:cNvSpPr>
            <a:spLocks noGrp="1"/>
          </p:cNvSpPr>
          <p:nvPr>
            <p:ph idx="1"/>
          </p:nvPr>
        </p:nvSpPr>
        <p:spPr/>
        <p:txBody>
          <a:bodyPr>
            <a:normAutofit/>
          </a:bodyPr>
          <a:lstStyle/>
          <a:p>
            <a:r>
              <a:rPr lang="en-US" b="0" i="0" dirty="0">
                <a:solidFill>
                  <a:srgbClr val="0D0D0D"/>
                </a:solidFill>
                <a:effectLst/>
                <a:latin typeface="Söhne"/>
              </a:rPr>
              <a:t>RFM + </a:t>
            </a:r>
            <a:r>
              <a:rPr lang="en-US" b="0" i="0" dirty="0" err="1">
                <a:solidFill>
                  <a:srgbClr val="0D0D0D"/>
                </a:solidFill>
                <a:effectLst/>
                <a:latin typeface="Söhne"/>
              </a:rPr>
              <a:t>KMeans</a:t>
            </a:r>
            <a:r>
              <a:rPr lang="en-US" b="0" i="0" dirty="0">
                <a:solidFill>
                  <a:srgbClr val="0D0D0D"/>
                </a:solidFill>
                <a:effectLst/>
                <a:latin typeface="Söhne"/>
              </a:rPr>
              <a:t> model output stored as CSV</a:t>
            </a:r>
          </a:p>
          <a:p>
            <a:r>
              <a:rPr lang="en-US" b="0" i="0" dirty="0" err="1">
                <a:solidFill>
                  <a:srgbClr val="0D0D0D"/>
                </a:solidFill>
                <a:effectLst/>
                <a:latin typeface="Söhne"/>
              </a:rPr>
              <a:t>Streamlit</a:t>
            </a:r>
            <a:r>
              <a:rPr lang="en-US" b="0" i="0" dirty="0">
                <a:solidFill>
                  <a:srgbClr val="0D0D0D"/>
                </a:solidFill>
                <a:effectLst/>
                <a:latin typeface="Söhne"/>
              </a:rPr>
              <a:t> reads:</a:t>
            </a:r>
          </a:p>
          <a:p>
            <a:pPr lvl="1"/>
            <a:r>
              <a:rPr lang="en-US" b="0" i="0" dirty="0">
                <a:solidFill>
                  <a:srgbClr val="0D0D0D"/>
                </a:solidFill>
                <a:effectLst/>
                <a:latin typeface="Söhne"/>
              </a:rPr>
              <a:t>final_rfm_clusters.csv</a:t>
            </a:r>
          </a:p>
          <a:p>
            <a:pPr lvl="1"/>
            <a:r>
              <a:rPr lang="en-US" b="0" i="0" dirty="0">
                <a:solidFill>
                  <a:srgbClr val="0D0D0D"/>
                </a:solidFill>
                <a:effectLst/>
                <a:latin typeface="Söhne"/>
              </a:rPr>
              <a:t>transaction dataset</a:t>
            </a:r>
          </a:p>
          <a:p>
            <a:r>
              <a:rPr lang="en-US" b="0" i="0" dirty="0">
                <a:solidFill>
                  <a:srgbClr val="0D0D0D"/>
                </a:solidFill>
                <a:effectLst/>
                <a:latin typeface="Söhne"/>
              </a:rPr>
              <a:t>Real-time filtering based on customer ID</a:t>
            </a:r>
          </a:p>
          <a:p>
            <a:r>
              <a:rPr lang="en-US" b="0" i="0" dirty="0">
                <a:solidFill>
                  <a:srgbClr val="0D0D0D"/>
                </a:solidFill>
                <a:effectLst/>
                <a:latin typeface="Söhne"/>
              </a:rPr>
              <a:t>Dynamic computation of metrics (Monetary, Frequency)</a:t>
            </a:r>
            <a:endParaRPr lang="en-US" dirty="0"/>
          </a:p>
        </p:txBody>
      </p:sp>
    </p:spTree>
    <p:extLst>
      <p:ext uri="{BB962C8B-B14F-4D97-AF65-F5344CB8AC3E}">
        <p14:creationId xmlns:p14="http://schemas.microsoft.com/office/powerpoint/2010/main" val="8190301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E2FDA-D4F6-747B-BE9F-B73B6CE690F9}"/>
              </a:ext>
            </a:extLst>
          </p:cNvPr>
          <p:cNvSpPr>
            <a:spLocks noGrp="1"/>
          </p:cNvSpPr>
          <p:nvPr>
            <p:ph type="title"/>
          </p:nvPr>
        </p:nvSpPr>
        <p:spPr>
          <a:xfrm>
            <a:off x="918587" y="10868"/>
            <a:ext cx="10515600" cy="1325563"/>
          </a:xfrm>
        </p:spPr>
        <p:txBody>
          <a:bodyPr/>
          <a:lstStyle/>
          <a:p>
            <a:r>
              <a:rPr lang="en-US" dirty="0"/>
              <a:t>Conclusion</a:t>
            </a:r>
          </a:p>
        </p:txBody>
      </p:sp>
      <p:sp>
        <p:nvSpPr>
          <p:cNvPr id="3" name="Content Placeholder 2">
            <a:extLst>
              <a:ext uri="{FF2B5EF4-FFF2-40B4-BE49-F238E27FC236}">
                <a16:creationId xmlns:a16="http://schemas.microsoft.com/office/drawing/2014/main" id="{13C0AC3D-073B-EDB5-01B3-9E43A560E843}"/>
              </a:ext>
            </a:extLst>
          </p:cNvPr>
          <p:cNvSpPr>
            <a:spLocks noGrp="1"/>
          </p:cNvSpPr>
          <p:nvPr>
            <p:ph idx="1"/>
          </p:nvPr>
        </p:nvSpPr>
        <p:spPr>
          <a:xfrm>
            <a:off x="838199" y="1123071"/>
            <a:ext cx="10898276" cy="5365820"/>
          </a:xfrm>
        </p:spPr>
        <p:txBody>
          <a:bodyPr>
            <a:normAutofit/>
          </a:bodyPr>
          <a:lstStyle/>
          <a:p>
            <a:pPr algn="l"/>
            <a:r>
              <a:rPr lang="en-US" b="1" i="0" dirty="0">
                <a:solidFill>
                  <a:srgbClr val="0D0D0D"/>
                </a:solidFill>
                <a:effectLst/>
                <a:latin typeface="Söhne"/>
              </a:rPr>
              <a:t>Cluster 0: Low Potential Customers</a:t>
            </a:r>
          </a:p>
          <a:p>
            <a:pPr algn="l">
              <a:buFont typeface="Arial" panose="020B0604020202020204" pitchFamily="34" charset="0"/>
              <a:buChar char="•"/>
            </a:pPr>
            <a:r>
              <a:rPr lang="en-US" b="0" i="0" dirty="0">
                <a:solidFill>
                  <a:srgbClr val="0D0D0D"/>
                </a:solidFill>
                <a:effectLst/>
                <a:latin typeface="Söhne"/>
              </a:rPr>
              <a:t>Description: Medium recency, low frequency, and low monetary value.</a:t>
            </a:r>
          </a:p>
          <a:p>
            <a:pPr algn="l">
              <a:buFont typeface="Arial" panose="020B0604020202020204" pitchFamily="34" charset="0"/>
              <a:buChar char="•"/>
            </a:pPr>
            <a:r>
              <a:rPr lang="en-US" b="0" i="0" dirty="0">
                <a:solidFill>
                  <a:srgbClr val="0D0D0D"/>
                </a:solidFill>
                <a:effectLst/>
                <a:latin typeface="Söhne"/>
              </a:rPr>
              <a:t>Interpretation: Not very engaged with the platform, unlikely to make frequent or high-value purchases.</a:t>
            </a:r>
          </a:p>
          <a:p>
            <a:pPr algn="l"/>
            <a:r>
              <a:rPr lang="en-US" b="1" i="0" dirty="0">
                <a:solidFill>
                  <a:srgbClr val="0D0D0D"/>
                </a:solidFill>
                <a:effectLst/>
                <a:latin typeface="Söhne"/>
              </a:rPr>
              <a:t>Cluster 1: New Customers</a:t>
            </a:r>
          </a:p>
          <a:p>
            <a:pPr algn="l">
              <a:buFont typeface="Arial" panose="020B0604020202020204" pitchFamily="34" charset="0"/>
              <a:buChar char="•"/>
            </a:pPr>
            <a:r>
              <a:rPr lang="en-US" b="0" i="0" dirty="0">
                <a:solidFill>
                  <a:srgbClr val="0D0D0D"/>
                </a:solidFill>
                <a:effectLst/>
                <a:latin typeface="Söhne"/>
              </a:rPr>
              <a:t>Description: High recency, low frequency, and low monetary value.</a:t>
            </a:r>
          </a:p>
          <a:p>
            <a:pPr algn="l">
              <a:buFont typeface="Arial" panose="020B0604020202020204" pitchFamily="34" charset="0"/>
              <a:buChar char="•"/>
            </a:pPr>
            <a:r>
              <a:rPr lang="en-US" b="0" i="0" dirty="0">
                <a:solidFill>
                  <a:srgbClr val="0D0D0D"/>
                </a:solidFill>
                <a:effectLst/>
                <a:latin typeface="Söhne"/>
              </a:rPr>
              <a:t>Interpretation: New to the platform, still exploring products or services.</a:t>
            </a:r>
          </a:p>
        </p:txBody>
      </p:sp>
    </p:spTree>
    <p:extLst>
      <p:ext uri="{BB962C8B-B14F-4D97-AF65-F5344CB8AC3E}">
        <p14:creationId xmlns:p14="http://schemas.microsoft.com/office/powerpoint/2010/main" val="15790270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B1226-A100-6B3C-BB67-6384FD8C7F44}"/>
              </a:ext>
            </a:extLst>
          </p:cNvPr>
          <p:cNvSpPr>
            <a:spLocks noGrp="1"/>
          </p:cNvSpPr>
          <p:nvPr>
            <p:ph type="title"/>
          </p:nvPr>
        </p:nvSpPr>
        <p:spPr>
          <a:xfrm>
            <a:off x="838200" y="-304614"/>
            <a:ext cx="10515600" cy="1325563"/>
          </a:xfrm>
        </p:spPr>
        <p:txBody>
          <a:bodyPr/>
          <a:lstStyle/>
          <a:p>
            <a:r>
              <a:rPr lang="en-US" dirty="0"/>
              <a:t>Conclusion</a:t>
            </a:r>
          </a:p>
        </p:txBody>
      </p:sp>
      <p:sp>
        <p:nvSpPr>
          <p:cNvPr id="3" name="Content Placeholder 2">
            <a:extLst>
              <a:ext uri="{FF2B5EF4-FFF2-40B4-BE49-F238E27FC236}">
                <a16:creationId xmlns:a16="http://schemas.microsoft.com/office/drawing/2014/main" id="{D4BFAAF6-E261-BC6C-FF2A-C15FFB69BEE1}"/>
              </a:ext>
            </a:extLst>
          </p:cNvPr>
          <p:cNvSpPr>
            <a:spLocks noGrp="1"/>
          </p:cNvSpPr>
          <p:nvPr>
            <p:ph idx="1"/>
          </p:nvPr>
        </p:nvSpPr>
        <p:spPr>
          <a:xfrm>
            <a:off x="838200" y="941633"/>
            <a:ext cx="10797792" cy="4974734"/>
          </a:xfrm>
        </p:spPr>
        <p:txBody>
          <a:bodyPr>
            <a:noAutofit/>
          </a:bodyPr>
          <a:lstStyle/>
          <a:p>
            <a:pPr algn="l"/>
            <a:r>
              <a:rPr lang="en-US" sz="2000" b="1" i="0" dirty="0">
                <a:solidFill>
                  <a:srgbClr val="0D0D0D"/>
                </a:solidFill>
                <a:effectLst/>
                <a:latin typeface="Söhne"/>
              </a:rPr>
              <a:t>Cluster 2: High-Value Customers</a:t>
            </a:r>
          </a:p>
          <a:p>
            <a:pPr algn="l">
              <a:buFont typeface="Arial" panose="020B0604020202020204" pitchFamily="34" charset="0"/>
              <a:buChar char="•"/>
            </a:pPr>
            <a:r>
              <a:rPr lang="en-US" sz="2000" b="0" i="0" dirty="0">
                <a:solidFill>
                  <a:srgbClr val="0D0D0D"/>
                </a:solidFill>
                <a:effectLst/>
                <a:latin typeface="Söhne"/>
              </a:rPr>
              <a:t>Description: Respectable recency, high frequency, and high monetary value.</a:t>
            </a:r>
          </a:p>
          <a:p>
            <a:pPr algn="l">
              <a:buFont typeface="Arial" panose="020B0604020202020204" pitchFamily="34" charset="0"/>
              <a:buChar char="•"/>
            </a:pPr>
            <a:r>
              <a:rPr lang="en-US" sz="2000" b="0" i="0" dirty="0">
                <a:solidFill>
                  <a:srgbClr val="0D0D0D"/>
                </a:solidFill>
                <a:effectLst/>
                <a:latin typeface="Söhne"/>
              </a:rPr>
              <a:t>Interpretation: Valuable customers making frequent and high-value purchases.</a:t>
            </a:r>
          </a:p>
          <a:p>
            <a:pPr algn="l"/>
            <a:r>
              <a:rPr lang="en-US" sz="2000" b="1" i="0" dirty="0">
                <a:solidFill>
                  <a:srgbClr val="0D0D0D"/>
                </a:solidFill>
                <a:effectLst/>
                <a:latin typeface="Söhne"/>
              </a:rPr>
              <a:t>Cluster 3: Average Customers</a:t>
            </a:r>
          </a:p>
          <a:p>
            <a:pPr algn="l">
              <a:buFont typeface="Arial" panose="020B0604020202020204" pitchFamily="34" charset="0"/>
              <a:buChar char="•"/>
            </a:pPr>
            <a:r>
              <a:rPr lang="en-US" sz="2000" b="0" i="0" dirty="0">
                <a:solidFill>
                  <a:srgbClr val="0D0D0D"/>
                </a:solidFill>
                <a:effectLst/>
                <a:latin typeface="Söhne"/>
              </a:rPr>
              <a:t>Description: Medium recency, frequency, and monetary value.</a:t>
            </a:r>
          </a:p>
          <a:p>
            <a:pPr algn="l">
              <a:buFont typeface="Arial" panose="020B0604020202020204" pitchFamily="34" charset="0"/>
              <a:buChar char="•"/>
            </a:pPr>
            <a:r>
              <a:rPr lang="en-US" sz="2000" b="0" i="0" dirty="0">
                <a:solidFill>
                  <a:srgbClr val="0D0D0D"/>
                </a:solidFill>
                <a:effectLst/>
                <a:latin typeface="Söhne"/>
              </a:rPr>
              <a:t>Interpretation: Moderately engaged with the platform, moderate frequency, and spending level.</a:t>
            </a:r>
          </a:p>
          <a:p>
            <a:r>
              <a:rPr lang="en-US" sz="2000" dirty="0"/>
              <a:t>Interactive dashboard enables </a:t>
            </a:r>
            <a:r>
              <a:rPr lang="en-US" sz="2000" b="1" dirty="0"/>
              <a:t>real-time customer insights</a:t>
            </a:r>
            <a:r>
              <a:rPr lang="en-US" sz="2000" dirty="0"/>
              <a:t> </a:t>
            </a:r>
          </a:p>
          <a:p>
            <a:r>
              <a:rPr lang="en-US" sz="2000" dirty="0"/>
              <a:t>Helps businesses take </a:t>
            </a:r>
            <a:r>
              <a:rPr lang="en-US" sz="2000" b="1" dirty="0"/>
              <a:t>data-driven decisions instantly</a:t>
            </a:r>
            <a:r>
              <a:rPr lang="en-US" sz="2000" dirty="0"/>
              <a:t> </a:t>
            </a:r>
          </a:p>
        </p:txBody>
      </p:sp>
    </p:spTree>
    <p:extLst>
      <p:ext uri="{BB962C8B-B14F-4D97-AF65-F5344CB8AC3E}">
        <p14:creationId xmlns:p14="http://schemas.microsoft.com/office/powerpoint/2010/main" val="40607599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16BB3-59B5-54C3-BAE9-2E1DF1CC2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C00A8-CEF6-0731-479E-CFCCBE59F7B8}"/>
              </a:ext>
            </a:extLst>
          </p:cNvPr>
          <p:cNvSpPr>
            <a:spLocks noGrp="1"/>
          </p:cNvSpPr>
          <p:nvPr>
            <p:ph type="title"/>
          </p:nvPr>
        </p:nvSpPr>
        <p:spPr/>
        <p:txBody>
          <a:bodyPr/>
          <a:lstStyle/>
          <a:p>
            <a:r>
              <a:rPr lang="en-IN" dirty="0"/>
              <a:t>Business Impact &amp; Benefits</a:t>
            </a:r>
            <a:endParaRPr lang="en-US" dirty="0"/>
          </a:p>
        </p:txBody>
      </p:sp>
      <p:sp>
        <p:nvSpPr>
          <p:cNvPr id="3" name="Content Placeholder 2">
            <a:extLst>
              <a:ext uri="{FF2B5EF4-FFF2-40B4-BE49-F238E27FC236}">
                <a16:creationId xmlns:a16="http://schemas.microsoft.com/office/drawing/2014/main" id="{B0869B6E-A75A-62DE-21A7-4BA3F5C3DCF2}"/>
              </a:ext>
            </a:extLst>
          </p:cNvPr>
          <p:cNvSpPr>
            <a:spLocks noGrp="1"/>
          </p:cNvSpPr>
          <p:nvPr>
            <p:ph idx="1"/>
          </p:nvPr>
        </p:nvSpPr>
        <p:spPr/>
        <p:txBody>
          <a:bodyPr>
            <a:normAutofit/>
          </a:bodyPr>
          <a:lstStyle/>
          <a:p>
            <a:r>
              <a:rPr lang="en-US" b="0" i="0" dirty="0">
                <a:solidFill>
                  <a:srgbClr val="0D0D0D"/>
                </a:solidFill>
                <a:effectLst/>
                <a:latin typeface="Söhne"/>
              </a:rPr>
              <a:t>Personalized marketing</a:t>
            </a:r>
          </a:p>
          <a:p>
            <a:r>
              <a:rPr lang="en-US" b="0" i="0" dirty="0">
                <a:solidFill>
                  <a:srgbClr val="0D0D0D"/>
                </a:solidFill>
                <a:effectLst/>
                <a:latin typeface="Söhne"/>
              </a:rPr>
              <a:t>Improved customer retention</a:t>
            </a:r>
          </a:p>
          <a:p>
            <a:r>
              <a:rPr lang="en-US" b="0" i="0" dirty="0">
                <a:solidFill>
                  <a:srgbClr val="0D0D0D"/>
                </a:solidFill>
                <a:effectLst/>
                <a:latin typeface="Söhne"/>
              </a:rPr>
              <a:t>Better </a:t>
            </a:r>
            <a:r>
              <a:rPr lang="en-US" b="0" i="0">
                <a:solidFill>
                  <a:srgbClr val="0D0D0D"/>
                </a:solidFill>
                <a:effectLst/>
                <a:latin typeface="Söhne"/>
              </a:rPr>
              <a:t>revenue targeting</a:t>
            </a:r>
          </a:p>
          <a:p>
            <a:r>
              <a:rPr lang="en-US" b="0" i="0" dirty="0">
                <a:solidFill>
                  <a:srgbClr val="0D0D0D"/>
                </a:solidFill>
                <a:effectLst/>
                <a:latin typeface="Söhne"/>
              </a:rPr>
              <a:t>Scalable solution using </a:t>
            </a:r>
            <a:r>
              <a:rPr lang="en-US" b="0" i="0" dirty="0" err="1">
                <a:solidFill>
                  <a:srgbClr val="0D0D0D"/>
                </a:solidFill>
                <a:effectLst/>
                <a:latin typeface="Söhne"/>
              </a:rPr>
              <a:t>PySpark</a:t>
            </a:r>
            <a:r>
              <a:rPr lang="en-US" b="0" i="0" dirty="0">
                <a:solidFill>
                  <a:srgbClr val="0D0D0D"/>
                </a:solidFill>
                <a:effectLst/>
                <a:latin typeface="Söhne"/>
              </a:rPr>
              <a:t> + </a:t>
            </a:r>
            <a:r>
              <a:rPr lang="en-US" b="0" i="0" dirty="0" err="1">
                <a:solidFill>
                  <a:srgbClr val="0D0D0D"/>
                </a:solidFill>
                <a:effectLst/>
                <a:latin typeface="Söhne"/>
              </a:rPr>
              <a:t>Streamlit</a:t>
            </a:r>
            <a:endParaRPr lang="en-US" dirty="0"/>
          </a:p>
        </p:txBody>
      </p:sp>
    </p:spTree>
    <p:extLst>
      <p:ext uri="{BB962C8B-B14F-4D97-AF65-F5344CB8AC3E}">
        <p14:creationId xmlns:p14="http://schemas.microsoft.com/office/powerpoint/2010/main" val="3660688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47A131F-D5DE-41A5-B4CF-4F345319B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30" name="Freeform: Shape 129">
            <a:extLst>
              <a:ext uri="{FF2B5EF4-FFF2-40B4-BE49-F238E27FC236}">
                <a16:creationId xmlns:a16="http://schemas.microsoft.com/office/drawing/2014/main" id="{3AF4666D-BD98-40A5-A75F-478B982010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31" name="Freeform: Shape 130">
            <a:extLst>
              <a:ext uri="{FF2B5EF4-FFF2-40B4-BE49-F238E27FC236}">
                <a16:creationId xmlns:a16="http://schemas.microsoft.com/office/drawing/2014/main" id="{68680585-71F9-4721-A998-4974171D2E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spcAft>
                <a:spcPts val="600"/>
              </a:spcAft>
            </a:pPr>
            <a:r>
              <a:rPr lang="en-US">
                <a:solidFill>
                  <a:schemeClr val="tx1">
                    <a:lumMod val="65000"/>
                    <a:lumOff val="35000"/>
                  </a:schemeClr>
                </a:solidFill>
                <a:latin typeface="AvenirNext LT Pro Medium" panose="020B0504020202020204" pitchFamily="34" charset="0"/>
              </a:rPr>
              <a:t> </a:t>
            </a:r>
          </a:p>
        </p:txBody>
      </p:sp>
      <p:sp>
        <p:nvSpPr>
          <p:cNvPr id="132" name="Freeform: Shape 131">
            <a:extLst>
              <a:ext uri="{FF2B5EF4-FFF2-40B4-BE49-F238E27FC236}">
                <a16:creationId xmlns:a16="http://schemas.microsoft.com/office/drawing/2014/main" id="{12BC95C2-2EEC-4F59-ABA8-660B0D059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3" name="Graphic 141">
            <a:extLst>
              <a:ext uri="{FF2B5EF4-FFF2-40B4-BE49-F238E27FC236}">
                <a16:creationId xmlns:a16="http://schemas.microsoft.com/office/drawing/2014/main" id="{03E9870D-4BBA-43AF-8D44-BBADF020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49" y="15178"/>
            <a:ext cx="2198951" cy="3331254"/>
            <a:chOff x="4473129" y="923925"/>
            <a:chExt cx="3308947" cy="5012817"/>
          </a:xfrm>
          <a:noFill/>
        </p:grpSpPr>
        <p:sp>
          <p:nvSpPr>
            <p:cNvPr id="17" name="Freeform: Shape 16">
              <a:extLst>
                <a:ext uri="{FF2B5EF4-FFF2-40B4-BE49-F238E27FC236}">
                  <a16:creationId xmlns:a16="http://schemas.microsoft.com/office/drawing/2014/main" id="{34BC5055-C77D-43CD-BB1D-A77B6779CD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4" name="Freeform: Shape 133">
              <a:extLst>
                <a:ext uri="{FF2B5EF4-FFF2-40B4-BE49-F238E27FC236}">
                  <a16:creationId xmlns:a16="http://schemas.microsoft.com/office/drawing/2014/main" id="{DB12D0B8-9385-489A-85AE-3D14AD0BA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5" name="Freeform: Shape 134">
              <a:extLst>
                <a:ext uri="{FF2B5EF4-FFF2-40B4-BE49-F238E27FC236}">
                  <a16:creationId xmlns:a16="http://schemas.microsoft.com/office/drawing/2014/main" id="{D158A14A-147E-4130-A5E2-38FD84B181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36" name="Freeform: Shape 135">
              <a:extLst>
                <a:ext uri="{FF2B5EF4-FFF2-40B4-BE49-F238E27FC236}">
                  <a16:creationId xmlns:a16="http://schemas.microsoft.com/office/drawing/2014/main" id="{75B8B1EB-5E2B-472C-AE60-2EC5961F16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7" name="Freeform: Shape 136">
              <a:extLst>
                <a:ext uri="{FF2B5EF4-FFF2-40B4-BE49-F238E27FC236}">
                  <a16:creationId xmlns:a16="http://schemas.microsoft.com/office/drawing/2014/main" id="{B4F5BD77-58D7-4B61-A666-1B4139A63A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38" name="Freeform: Shape 137">
              <a:extLst>
                <a:ext uri="{FF2B5EF4-FFF2-40B4-BE49-F238E27FC236}">
                  <a16:creationId xmlns:a16="http://schemas.microsoft.com/office/drawing/2014/main" id="{F5CBEC6B-EDB6-40B8-8771-E5AF41B8D6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39" name="Freeform: Shape 138">
              <a:extLst>
                <a:ext uri="{FF2B5EF4-FFF2-40B4-BE49-F238E27FC236}">
                  <a16:creationId xmlns:a16="http://schemas.microsoft.com/office/drawing/2014/main" id="{91BD0EE8-AA47-4044-9251-9F5A4B820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a:p>
          </p:txBody>
        </p:sp>
      </p:grpSp>
      <p:grpSp>
        <p:nvGrpSpPr>
          <p:cNvPr id="140" name="Graphic 157">
            <a:extLst>
              <a:ext uri="{FF2B5EF4-FFF2-40B4-BE49-F238E27FC236}">
                <a16:creationId xmlns:a16="http://schemas.microsoft.com/office/drawing/2014/main" id="{C3279E8D-2BAA-4CB1-834B-09FADD54DE5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610600" y="3276600"/>
            <a:ext cx="3529260" cy="3581398"/>
            <a:chOff x="4114800" y="1423987"/>
            <a:chExt cx="3961542" cy="4007547"/>
          </a:xfrm>
          <a:noFill/>
        </p:grpSpPr>
        <p:sp>
          <p:nvSpPr>
            <p:cNvPr id="26" name="Freeform: Shape 25">
              <a:extLst>
                <a:ext uri="{FF2B5EF4-FFF2-40B4-BE49-F238E27FC236}">
                  <a16:creationId xmlns:a16="http://schemas.microsoft.com/office/drawing/2014/main" id="{3456F18E-4F61-486D-9CD6-65B30372C5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1" name="Freeform: Shape 140">
              <a:extLst>
                <a:ext uri="{FF2B5EF4-FFF2-40B4-BE49-F238E27FC236}">
                  <a16:creationId xmlns:a16="http://schemas.microsoft.com/office/drawing/2014/main" id="{318DDF45-08F0-46B6-A0B7-133735C94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2" name="Freeform: Shape 141">
              <a:extLst>
                <a:ext uri="{FF2B5EF4-FFF2-40B4-BE49-F238E27FC236}">
                  <a16:creationId xmlns:a16="http://schemas.microsoft.com/office/drawing/2014/main" id="{B9D0CC0F-710D-43F4-BC86-7637674201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3" name="Freeform: Shape 142">
              <a:extLst>
                <a:ext uri="{FF2B5EF4-FFF2-40B4-BE49-F238E27FC236}">
                  <a16:creationId xmlns:a16="http://schemas.microsoft.com/office/drawing/2014/main" id="{6FB36AB6-CB81-495A-8A33-C0BCE67D6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4" name="Freeform: Shape 143">
              <a:extLst>
                <a:ext uri="{FF2B5EF4-FFF2-40B4-BE49-F238E27FC236}">
                  <a16:creationId xmlns:a16="http://schemas.microsoft.com/office/drawing/2014/main" id="{1993F7E6-ABF6-482D-BEA5-B4E607DDB4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5" name="Freeform: Shape 144">
              <a:extLst>
                <a:ext uri="{FF2B5EF4-FFF2-40B4-BE49-F238E27FC236}">
                  <a16:creationId xmlns:a16="http://schemas.microsoft.com/office/drawing/2014/main" id="{DCA0B097-C21A-40B4-95E4-2FFA9697F8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6" name="Freeform: Shape 145">
              <a:extLst>
                <a:ext uri="{FF2B5EF4-FFF2-40B4-BE49-F238E27FC236}">
                  <a16:creationId xmlns:a16="http://schemas.microsoft.com/office/drawing/2014/main" id="{AB2AF0F5-7EAA-4BAB-8DE2-D84E124170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useBgFill="1">
        <p:nvSpPr>
          <p:cNvPr id="147" name="Rectangle 146">
            <a:extLst>
              <a:ext uri="{FF2B5EF4-FFF2-40B4-BE49-F238E27FC236}">
                <a16:creationId xmlns:a16="http://schemas.microsoft.com/office/drawing/2014/main" id="{3A6C273A-38F2-4D34-98BF-47B248862B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48" name="Rectangle 147">
            <a:extLst>
              <a:ext uri="{FF2B5EF4-FFF2-40B4-BE49-F238E27FC236}">
                <a16:creationId xmlns:a16="http://schemas.microsoft.com/office/drawing/2014/main" id="{2E2CF659-EE5D-432C-B47F-10AC4A48A3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49" name="Footer Placeholder 42">
            <a:extLst>
              <a:ext uri="{FF2B5EF4-FFF2-40B4-BE49-F238E27FC236}">
                <a16:creationId xmlns:a16="http://schemas.microsoft.com/office/drawing/2014/main" id="{03E51277-1095-412F-913B-8FA8021AA626}"/>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cap="all" spc="200">
              <a:latin typeface="Segoe UI Semilight" panose="020B0402040204020203" pitchFamily="34" charset="0"/>
              <a:cs typeface="Segoe UI Semilight" panose="020B0402040204020203" pitchFamily="34" charset="0"/>
            </a:endParaRPr>
          </a:p>
        </p:txBody>
      </p:sp>
      <p:grpSp>
        <p:nvGrpSpPr>
          <p:cNvPr id="150" name="Top Left">
            <a:extLst>
              <a:ext uri="{FF2B5EF4-FFF2-40B4-BE49-F238E27FC236}">
                <a16:creationId xmlns:a16="http://schemas.microsoft.com/office/drawing/2014/main" id="{FC280B3D-FC68-4DDC-950C-506B5C6838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87"/>
            <a:ext cx="7921775" cy="6887020"/>
            <a:chOff x="0" y="-3087"/>
            <a:chExt cx="7921775" cy="6887020"/>
          </a:xfrm>
        </p:grpSpPr>
        <p:sp>
          <p:nvSpPr>
            <p:cNvPr id="151" name="Freeform: Shape 150">
              <a:extLst>
                <a:ext uri="{FF2B5EF4-FFF2-40B4-BE49-F238E27FC236}">
                  <a16:creationId xmlns:a16="http://schemas.microsoft.com/office/drawing/2014/main" id="{4EA2AE61-06D9-484D-8DD1-BACA157CCA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sp>
          <p:nvSpPr>
            <p:cNvPr id="42" name="Freeform: Shape 41">
              <a:extLst>
                <a:ext uri="{FF2B5EF4-FFF2-40B4-BE49-F238E27FC236}">
                  <a16:creationId xmlns:a16="http://schemas.microsoft.com/office/drawing/2014/main" id="{712269F1-E4D6-4EEB-8A0F-059FAFC408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0919" y="61392"/>
              <a:ext cx="4450856" cy="6822541"/>
            </a:xfrm>
            <a:custGeom>
              <a:avLst/>
              <a:gdLst>
                <a:gd name="connsiteX0" fmla="*/ 545711 w 2478714"/>
                <a:gd name="connsiteY0" fmla="*/ 3799523 h 3799522"/>
                <a:gd name="connsiteX1" fmla="*/ 280820 w 2478714"/>
                <a:gd name="connsiteY1" fmla="*/ 3178874 h 3799522"/>
                <a:gd name="connsiteX2" fmla="*/ 43076 w 2478714"/>
                <a:gd name="connsiteY2" fmla="*/ 2663762 h 3799522"/>
                <a:gd name="connsiteX3" fmla="*/ 3167 w 2478714"/>
                <a:gd name="connsiteY3" fmla="*/ 2344769 h 3799522"/>
                <a:gd name="connsiteX4" fmla="*/ 117943 w 2478714"/>
                <a:gd name="connsiteY4" fmla="*/ 1976723 h 3799522"/>
                <a:gd name="connsiteX5" fmla="*/ 224242 w 2478714"/>
                <a:gd name="connsiteY5" fmla="*/ 1744123 h 3799522"/>
                <a:gd name="connsiteX6" fmla="*/ 447222 w 2478714"/>
                <a:gd name="connsiteY6" fmla="*/ 1569244 h 3799522"/>
                <a:gd name="connsiteX7" fmla="*/ 708588 w 2478714"/>
                <a:gd name="connsiteY7" fmla="*/ 1598295 h 3799522"/>
                <a:gd name="connsiteX8" fmla="*/ 1024532 w 2478714"/>
                <a:gd name="connsiteY8" fmla="*/ 1741837 h 3799522"/>
                <a:gd name="connsiteX9" fmla="*/ 1538692 w 2478714"/>
                <a:gd name="connsiteY9" fmla="*/ 1773460 h 3799522"/>
                <a:gd name="connsiteX10" fmla="*/ 1869019 w 2478714"/>
                <a:gd name="connsiteY10" fmla="*/ 1650016 h 3799522"/>
                <a:gd name="connsiteX11" fmla="*/ 2124670 w 2478714"/>
                <a:gd name="connsiteY11" fmla="*/ 1515047 h 3799522"/>
                <a:gd name="connsiteX12" fmla="*/ 2334410 w 2478714"/>
                <a:gd name="connsiteY12" fmla="*/ 1305401 h 3799522"/>
                <a:gd name="connsiteX13" fmla="*/ 2430232 w 2478714"/>
                <a:gd name="connsiteY13" fmla="*/ 933164 h 3799522"/>
                <a:gd name="connsiteX14" fmla="*/ 2430232 w 2478714"/>
                <a:gd name="connsiteY14" fmla="*/ 571786 h 3799522"/>
                <a:gd name="connsiteX15" fmla="*/ 2445472 w 2478714"/>
                <a:gd name="connsiteY15" fmla="*/ 315659 h 3799522"/>
                <a:gd name="connsiteX16" fmla="*/ 2478714 w 2478714"/>
                <a:gd name="connsiteY16" fmla="*/ 0 h 3799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478714" h="3799522">
                  <a:moveTo>
                    <a:pt x="545711" y="3799523"/>
                  </a:moveTo>
                  <a:cubicBezTo>
                    <a:pt x="492847" y="3532346"/>
                    <a:pt x="330541" y="3270313"/>
                    <a:pt x="280820" y="3178874"/>
                  </a:cubicBezTo>
                  <a:cubicBezTo>
                    <a:pt x="190047" y="3012281"/>
                    <a:pt x="98988" y="2844832"/>
                    <a:pt x="43076" y="2663762"/>
                  </a:cubicBezTo>
                  <a:cubicBezTo>
                    <a:pt x="11072" y="2560130"/>
                    <a:pt x="-7882" y="2452402"/>
                    <a:pt x="3167" y="2344769"/>
                  </a:cubicBezTo>
                  <a:cubicBezTo>
                    <a:pt x="16311" y="2216468"/>
                    <a:pt x="71175" y="2097310"/>
                    <a:pt x="117943" y="1976723"/>
                  </a:cubicBezTo>
                  <a:cubicBezTo>
                    <a:pt x="148899" y="1896904"/>
                    <a:pt x="177569" y="1815751"/>
                    <a:pt x="224242" y="1744123"/>
                  </a:cubicBezTo>
                  <a:cubicBezTo>
                    <a:pt x="277677" y="1662017"/>
                    <a:pt x="352829" y="1593437"/>
                    <a:pt x="447222" y="1569244"/>
                  </a:cubicBezTo>
                  <a:cubicBezTo>
                    <a:pt x="534090" y="1547051"/>
                    <a:pt x="624387" y="1565910"/>
                    <a:pt x="708588" y="1598295"/>
                  </a:cubicBezTo>
                  <a:cubicBezTo>
                    <a:pt x="816697" y="1640015"/>
                    <a:pt x="915948" y="1701546"/>
                    <a:pt x="1024532" y="1741837"/>
                  </a:cubicBezTo>
                  <a:cubicBezTo>
                    <a:pt x="1188743" y="1802797"/>
                    <a:pt x="1367814" y="1811750"/>
                    <a:pt x="1538692" y="1773460"/>
                  </a:cubicBezTo>
                  <a:cubicBezTo>
                    <a:pt x="1653659" y="1747647"/>
                    <a:pt x="1761863" y="1699355"/>
                    <a:pt x="1869019" y="1650016"/>
                  </a:cubicBezTo>
                  <a:cubicBezTo>
                    <a:pt x="1956744" y="1609630"/>
                    <a:pt x="2044279" y="1568291"/>
                    <a:pt x="2124670" y="1515047"/>
                  </a:cubicBezTo>
                  <a:cubicBezTo>
                    <a:pt x="2208204" y="1459706"/>
                    <a:pt x="2282976" y="1391222"/>
                    <a:pt x="2334410" y="1305401"/>
                  </a:cubicBezTo>
                  <a:cubicBezTo>
                    <a:pt x="2401181" y="1194054"/>
                    <a:pt x="2423565" y="1063276"/>
                    <a:pt x="2430232" y="933164"/>
                  </a:cubicBezTo>
                  <a:cubicBezTo>
                    <a:pt x="2436423" y="812864"/>
                    <a:pt x="2428517" y="692277"/>
                    <a:pt x="2430232" y="571786"/>
                  </a:cubicBezTo>
                  <a:cubicBezTo>
                    <a:pt x="2431470" y="486251"/>
                    <a:pt x="2438233" y="400907"/>
                    <a:pt x="2445472" y="315659"/>
                  </a:cubicBezTo>
                  <a:cubicBezTo>
                    <a:pt x="2454426" y="210217"/>
                    <a:pt x="2463284" y="104680"/>
                    <a:pt x="2478714" y="0"/>
                  </a:cubicBezTo>
                </a:path>
              </a:pathLst>
            </a:custGeom>
            <a:noFill/>
            <a:ln w="9525" cap="rnd">
              <a:solidFill>
                <a:schemeClr val="accent2">
                  <a:alpha val="35000"/>
                </a:schemeClr>
              </a:solidFill>
              <a:prstDash val="lgDash"/>
              <a:round/>
            </a:ln>
          </p:spPr>
          <p:txBody>
            <a:bodyPr rtlCol="0" anchor="ctr"/>
            <a:lstStyle/>
            <a:p>
              <a:endParaRPr lang="en-US"/>
            </a:p>
          </p:txBody>
        </p:sp>
        <p:sp>
          <p:nvSpPr>
            <p:cNvPr id="152" name="Freeform: Shape 151">
              <a:extLst>
                <a:ext uri="{FF2B5EF4-FFF2-40B4-BE49-F238E27FC236}">
                  <a16:creationId xmlns:a16="http://schemas.microsoft.com/office/drawing/2014/main" id="{088D87B2-D2A4-4577-89DC-7AF275C017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274" y="1582560"/>
              <a:ext cx="4133888" cy="5301373"/>
            </a:xfrm>
            <a:custGeom>
              <a:avLst/>
              <a:gdLst>
                <a:gd name="connsiteX0" fmla="*/ 2302193 w 2302192"/>
                <a:gd name="connsiteY0" fmla="*/ 2952373 h 2952373"/>
                <a:gd name="connsiteX1" fmla="*/ 2022729 w 2302192"/>
                <a:gd name="connsiteY1" fmla="*/ 2442309 h 2952373"/>
                <a:gd name="connsiteX2" fmla="*/ 1834039 w 2302192"/>
                <a:gd name="connsiteY2" fmla="*/ 1937199 h 2952373"/>
                <a:gd name="connsiteX3" fmla="*/ 1789748 w 2302192"/>
                <a:gd name="connsiteY3" fmla="*/ 1609063 h 2952373"/>
                <a:gd name="connsiteX4" fmla="*/ 1870139 w 2302192"/>
                <a:gd name="connsiteY4" fmla="*/ 1183962 h 2952373"/>
                <a:gd name="connsiteX5" fmla="*/ 2021110 w 2302192"/>
                <a:gd name="connsiteY5" fmla="*/ 743621 h 2952373"/>
                <a:gd name="connsiteX6" fmla="*/ 2010061 w 2302192"/>
                <a:gd name="connsiteY6" fmla="*/ 342047 h 2952373"/>
                <a:gd name="connsiteX7" fmla="*/ 1867376 w 2302192"/>
                <a:gd name="connsiteY7" fmla="*/ 55440 h 2952373"/>
                <a:gd name="connsiteX8" fmla="*/ 1652683 w 2302192"/>
                <a:gd name="connsiteY8" fmla="*/ 2862 h 2952373"/>
                <a:gd name="connsiteX9" fmla="*/ 1295305 w 2302192"/>
                <a:gd name="connsiteY9" fmla="*/ 234129 h 2952373"/>
                <a:gd name="connsiteX10" fmla="*/ 812101 w 2302192"/>
                <a:gd name="connsiteY10" fmla="*/ 886401 h 2952373"/>
                <a:gd name="connsiteX11" fmla="*/ 668846 w 2302192"/>
                <a:gd name="connsiteY11" fmla="*/ 1126145 h 2952373"/>
                <a:gd name="connsiteX12" fmla="*/ 498443 w 2302192"/>
                <a:gd name="connsiteY12" fmla="*/ 1405799 h 2952373"/>
                <a:gd name="connsiteX13" fmla="*/ 355759 w 2302192"/>
                <a:gd name="connsiteY13" fmla="*/ 1634304 h 2952373"/>
                <a:gd name="connsiteX14" fmla="*/ 161449 w 2302192"/>
                <a:gd name="connsiteY14" fmla="*/ 1913576 h 2952373"/>
                <a:gd name="connsiteX15" fmla="*/ 0 w 2302192"/>
                <a:gd name="connsiteY15" fmla="*/ 2189802 h 2952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302192" h="2952373">
                  <a:moveTo>
                    <a:pt x="2302193" y="2952373"/>
                  </a:moveTo>
                  <a:cubicBezTo>
                    <a:pt x="2141125" y="2809308"/>
                    <a:pt x="2070068" y="2504603"/>
                    <a:pt x="2022729" y="2442309"/>
                  </a:cubicBezTo>
                  <a:cubicBezTo>
                    <a:pt x="1884140" y="2259810"/>
                    <a:pt x="1887760" y="2160274"/>
                    <a:pt x="1834039" y="1937199"/>
                  </a:cubicBezTo>
                  <a:cubicBezTo>
                    <a:pt x="1808131" y="1829376"/>
                    <a:pt x="1789367" y="1719838"/>
                    <a:pt x="1789748" y="1609063"/>
                  </a:cubicBezTo>
                  <a:cubicBezTo>
                    <a:pt x="1790224" y="1464092"/>
                    <a:pt x="1822418" y="1321122"/>
                    <a:pt x="1870139" y="1183962"/>
                  </a:cubicBezTo>
                  <a:cubicBezTo>
                    <a:pt x="1921288" y="1036896"/>
                    <a:pt x="1991868" y="896307"/>
                    <a:pt x="2021110" y="743621"/>
                  </a:cubicBezTo>
                  <a:cubicBezTo>
                    <a:pt x="2046637" y="610842"/>
                    <a:pt x="2036921" y="474730"/>
                    <a:pt x="2010061" y="342047"/>
                  </a:cubicBezTo>
                  <a:cubicBezTo>
                    <a:pt x="1988058" y="233367"/>
                    <a:pt x="1954340" y="122210"/>
                    <a:pt x="1867376" y="55440"/>
                  </a:cubicBezTo>
                  <a:cubicBezTo>
                    <a:pt x="1806512" y="8767"/>
                    <a:pt x="1728883" y="-7140"/>
                    <a:pt x="1652683" y="2862"/>
                  </a:cubicBezTo>
                  <a:cubicBezTo>
                    <a:pt x="1508474" y="21816"/>
                    <a:pt x="1395984" y="127068"/>
                    <a:pt x="1295305" y="234129"/>
                  </a:cubicBezTo>
                  <a:cubicBezTo>
                    <a:pt x="1109377" y="431772"/>
                    <a:pt x="953453" y="654657"/>
                    <a:pt x="812101" y="886401"/>
                  </a:cubicBezTo>
                  <a:cubicBezTo>
                    <a:pt x="763619" y="965934"/>
                    <a:pt x="716566" y="1046230"/>
                    <a:pt x="668846" y="1126145"/>
                  </a:cubicBezTo>
                  <a:cubicBezTo>
                    <a:pt x="612839" y="1219871"/>
                    <a:pt x="555308" y="1312644"/>
                    <a:pt x="498443" y="1405799"/>
                  </a:cubicBezTo>
                  <a:cubicBezTo>
                    <a:pt x="451676" y="1482475"/>
                    <a:pt x="405289" y="1559342"/>
                    <a:pt x="355759" y="1634304"/>
                  </a:cubicBezTo>
                  <a:cubicBezTo>
                    <a:pt x="293275" y="1728887"/>
                    <a:pt x="225362" y="1819946"/>
                    <a:pt x="161449" y="1913576"/>
                  </a:cubicBezTo>
                  <a:cubicBezTo>
                    <a:pt x="86487" y="2023495"/>
                    <a:pt x="0" y="2189802"/>
                    <a:pt x="0" y="2189802"/>
                  </a:cubicBezTo>
                </a:path>
              </a:pathLst>
            </a:custGeom>
            <a:noFill/>
            <a:ln w="9525" cap="rnd">
              <a:solidFill>
                <a:schemeClr val="accent2">
                  <a:alpha val="35000"/>
                </a:schemeClr>
              </a:solidFill>
              <a:prstDash val="lgDash"/>
              <a:round/>
            </a:ln>
          </p:spPr>
          <p:txBody>
            <a:bodyPr rtlCol="0" anchor="ctr"/>
            <a:lstStyle/>
            <a:p>
              <a:endParaRPr lang="en-US"/>
            </a:p>
          </p:txBody>
        </p:sp>
        <p:sp>
          <p:nvSpPr>
            <p:cNvPr id="153" name="Freeform: Shape 152">
              <a:extLst>
                <a:ext uri="{FF2B5EF4-FFF2-40B4-BE49-F238E27FC236}">
                  <a16:creationId xmlns:a16="http://schemas.microsoft.com/office/drawing/2014/main" id="{ACCB55F8-F950-431F-9B90-688950D9F3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087"/>
              <a:ext cx="17103" cy="17103"/>
            </a:xfrm>
            <a:custGeom>
              <a:avLst/>
              <a:gdLst/>
              <a:ahLst/>
              <a:cxnLst/>
              <a:rect l="l" t="t" r="r" b="b"/>
              <a:pathLst>
                <a:path w="9525" h="9525"/>
              </a:pathLst>
            </a:custGeom>
            <a:noFill/>
            <a:ln w="9525" cap="rnd">
              <a:solidFill>
                <a:schemeClr val="accent2">
                  <a:alpha val="35000"/>
                </a:schemeClr>
              </a:solidFill>
              <a:prstDash val="lgDash"/>
              <a:round/>
            </a:ln>
          </p:spPr>
          <p:txBody>
            <a:bodyPr rtlCol="0" anchor="ctr"/>
            <a:lstStyle/>
            <a:p>
              <a:endParaRPr lang="en-US"/>
            </a:p>
          </p:txBody>
        </p:sp>
        <p:sp>
          <p:nvSpPr>
            <p:cNvPr id="154" name="Freeform: Shape 153">
              <a:extLst>
                <a:ext uri="{FF2B5EF4-FFF2-40B4-BE49-F238E27FC236}">
                  <a16:creationId xmlns:a16="http://schemas.microsoft.com/office/drawing/2014/main" id="{27D0AA11-2E4E-479C-B953-547285E724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087"/>
              <a:ext cx="17103" cy="17103"/>
            </a:xfrm>
            <a:custGeom>
              <a:avLst/>
              <a:gdLst/>
              <a:ahLst/>
              <a:cxnLst/>
              <a:rect l="l" t="t" r="r" b="b"/>
              <a:pathLst>
                <a:path w="9525" h="9525"/>
              </a:pathLst>
            </a:custGeom>
            <a:noFill/>
            <a:ln w="9525" cap="rnd">
              <a:solidFill>
                <a:schemeClr val="accent2">
                  <a:alpha val="35000"/>
                </a:schemeClr>
              </a:solidFill>
              <a:prstDash val="lgDash"/>
              <a:round/>
            </a:ln>
          </p:spPr>
          <p:txBody>
            <a:bodyPr rtlCol="0" anchor="ctr"/>
            <a:lstStyle/>
            <a:p>
              <a:endParaRPr lang="en-US"/>
            </a:p>
          </p:txBody>
        </p:sp>
        <p:sp>
          <p:nvSpPr>
            <p:cNvPr id="155" name="Freeform: Shape 154">
              <a:extLst>
                <a:ext uri="{FF2B5EF4-FFF2-40B4-BE49-F238E27FC236}">
                  <a16:creationId xmlns:a16="http://schemas.microsoft.com/office/drawing/2014/main" id="{90D86C66-EDF0-4ABB-87F4-A2882A2E02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931" y="3518322"/>
              <a:ext cx="2880722" cy="3317378"/>
            </a:xfrm>
            <a:custGeom>
              <a:avLst/>
              <a:gdLst>
                <a:gd name="connsiteX0" fmla="*/ 1604296 w 1604295"/>
                <a:gd name="connsiteY0" fmla="*/ 1847472 h 1847472"/>
                <a:gd name="connsiteX1" fmla="*/ 1517809 w 1604295"/>
                <a:gd name="connsiteY1" fmla="*/ 1544292 h 1847472"/>
                <a:gd name="connsiteX2" fmla="*/ 1394841 w 1604295"/>
                <a:gd name="connsiteY2" fmla="*/ 1183771 h 1847472"/>
                <a:gd name="connsiteX3" fmla="*/ 1318355 w 1604295"/>
                <a:gd name="connsiteY3" fmla="*/ 695233 h 1847472"/>
                <a:gd name="connsiteX4" fmla="*/ 1359884 w 1604295"/>
                <a:gd name="connsiteY4" fmla="*/ 397863 h 1847472"/>
                <a:gd name="connsiteX5" fmla="*/ 1359884 w 1604295"/>
                <a:gd name="connsiteY5" fmla="*/ 236700 h 1847472"/>
                <a:gd name="connsiteX6" fmla="*/ 1351598 w 1604295"/>
                <a:gd name="connsiteY6" fmla="*/ 67250 h 1847472"/>
                <a:gd name="connsiteX7" fmla="*/ 1316641 w 1604295"/>
                <a:gd name="connsiteY7" fmla="*/ 10767 h 1847472"/>
                <a:gd name="connsiteX8" fmla="*/ 1195292 w 1604295"/>
                <a:gd name="connsiteY8" fmla="*/ 34008 h 1847472"/>
                <a:gd name="connsiteX9" fmla="*/ 1005745 w 1604295"/>
                <a:gd name="connsiteY9" fmla="*/ 254988 h 1847472"/>
                <a:gd name="connsiteX10" fmla="*/ 763048 w 1604295"/>
                <a:gd name="connsiteY10" fmla="*/ 587315 h 1847472"/>
                <a:gd name="connsiteX11" fmla="*/ 548640 w 1604295"/>
                <a:gd name="connsiteY11" fmla="*/ 861444 h 1847472"/>
                <a:gd name="connsiteX12" fmla="*/ 328803 w 1604295"/>
                <a:gd name="connsiteY12" fmla="*/ 1145480 h 1847472"/>
                <a:gd name="connsiteX13" fmla="*/ 0 w 1604295"/>
                <a:gd name="connsiteY13" fmla="*/ 1607157 h 1847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04295" h="1847472">
                  <a:moveTo>
                    <a:pt x="1604296" y="1847472"/>
                  </a:moveTo>
                  <a:cubicBezTo>
                    <a:pt x="1573721" y="1753270"/>
                    <a:pt x="1548479" y="1638399"/>
                    <a:pt x="1517809" y="1544292"/>
                  </a:cubicBezTo>
                  <a:cubicBezTo>
                    <a:pt x="1478471" y="1423515"/>
                    <a:pt x="1432846" y="1304929"/>
                    <a:pt x="1394841" y="1183771"/>
                  </a:cubicBezTo>
                  <a:cubicBezTo>
                    <a:pt x="1345025" y="1024893"/>
                    <a:pt x="1305497" y="860778"/>
                    <a:pt x="1318355" y="695233"/>
                  </a:cubicBezTo>
                  <a:cubicBezTo>
                    <a:pt x="1326071" y="595316"/>
                    <a:pt x="1353312" y="497780"/>
                    <a:pt x="1359884" y="397863"/>
                  </a:cubicBezTo>
                  <a:cubicBezTo>
                    <a:pt x="1363409" y="344237"/>
                    <a:pt x="1359503" y="290421"/>
                    <a:pt x="1359884" y="236700"/>
                  </a:cubicBezTo>
                  <a:cubicBezTo>
                    <a:pt x="1360265" y="179740"/>
                    <a:pt x="1366076" y="122114"/>
                    <a:pt x="1351598" y="67250"/>
                  </a:cubicBezTo>
                  <a:cubicBezTo>
                    <a:pt x="1345692" y="44866"/>
                    <a:pt x="1335691" y="23530"/>
                    <a:pt x="1316641" y="10767"/>
                  </a:cubicBezTo>
                  <a:cubicBezTo>
                    <a:pt x="1279874" y="-13998"/>
                    <a:pt x="1233202" y="8290"/>
                    <a:pt x="1195292" y="34008"/>
                  </a:cubicBezTo>
                  <a:cubicBezTo>
                    <a:pt x="1114330" y="89062"/>
                    <a:pt x="1060990" y="173644"/>
                    <a:pt x="1005745" y="254988"/>
                  </a:cubicBezTo>
                  <a:cubicBezTo>
                    <a:pt x="928688" y="368526"/>
                    <a:pt x="847058" y="478825"/>
                    <a:pt x="763048" y="587315"/>
                  </a:cubicBezTo>
                  <a:cubicBezTo>
                    <a:pt x="691991" y="679041"/>
                    <a:pt x="621697" y="771338"/>
                    <a:pt x="548640" y="861444"/>
                  </a:cubicBezTo>
                  <a:cubicBezTo>
                    <a:pt x="425672" y="1012987"/>
                    <a:pt x="453866" y="995747"/>
                    <a:pt x="328803" y="1145480"/>
                  </a:cubicBezTo>
                  <a:cubicBezTo>
                    <a:pt x="294418" y="1186628"/>
                    <a:pt x="21146" y="1558103"/>
                    <a:pt x="0" y="1607157"/>
                  </a:cubicBezTo>
                </a:path>
              </a:pathLst>
            </a:custGeom>
            <a:noFill/>
            <a:ln w="9525" cap="rnd">
              <a:solidFill>
                <a:schemeClr val="accent2">
                  <a:alpha val="35000"/>
                </a:schemeClr>
              </a:solidFill>
              <a:prstDash val="lgDash"/>
              <a:round/>
            </a:ln>
          </p:spPr>
          <p:txBody>
            <a:bodyPr rtlCol="0" anchor="ctr"/>
            <a:lstStyle/>
            <a:p>
              <a:endParaRPr lang="en-US"/>
            </a:p>
          </p:txBody>
        </p:sp>
        <p:sp>
          <p:nvSpPr>
            <p:cNvPr id="156" name="Freeform: Shape 155">
              <a:extLst>
                <a:ext uri="{FF2B5EF4-FFF2-40B4-BE49-F238E27FC236}">
                  <a16:creationId xmlns:a16="http://schemas.microsoft.com/office/drawing/2014/main" id="{D026082B-E695-4987-8C03-332366C6C9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69" y="2957679"/>
              <a:ext cx="2196245" cy="3010367"/>
            </a:xfrm>
            <a:custGeom>
              <a:avLst/>
              <a:gdLst>
                <a:gd name="connsiteX0" fmla="*/ 1223105 w 1223105"/>
                <a:gd name="connsiteY0" fmla="*/ 0 h 1676495"/>
                <a:gd name="connsiteX1" fmla="*/ 1000792 w 1223105"/>
                <a:gd name="connsiteY1" fmla="*/ 254794 h 1676495"/>
                <a:gd name="connsiteX2" fmla="*/ 744760 w 1223105"/>
                <a:gd name="connsiteY2" fmla="*/ 651891 h 1676495"/>
                <a:gd name="connsiteX3" fmla="*/ 345758 w 1223105"/>
                <a:gd name="connsiteY3" fmla="*/ 1231773 h 1676495"/>
                <a:gd name="connsiteX4" fmla="*/ 0 w 1223105"/>
                <a:gd name="connsiteY4" fmla="*/ 1676495 h 1676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3105" h="1676495">
                  <a:moveTo>
                    <a:pt x="1223105" y="0"/>
                  </a:moveTo>
                  <a:cubicBezTo>
                    <a:pt x="1136523" y="72771"/>
                    <a:pt x="1066324" y="162401"/>
                    <a:pt x="1000792" y="254794"/>
                  </a:cubicBezTo>
                  <a:cubicBezTo>
                    <a:pt x="909733" y="383286"/>
                    <a:pt x="827723" y="517970"/>
                    <a:pt x="744760" y="651891"/>
                  </a:cubicBezTo>
                  <a:cubicBezTo>
                    <a:pt x="621030" y="851726"/>
                    <a:pt x="497777" y="1052608"/>
                    <a:pt x="345758" y="1231773"/>
                  </a:cubicBezTo>
                  <a:cubicBezTo>
                    <a:pt x="248888" y="1345978"/>
                    <a:pt x="61722" y="1540764"/>
                    <a:pt x="0" y="1676495"/>
                  </a:cubicBezTo>
                </a:path>
              </a:pathLst>
            </a:custGeom>
            <a:noFill/>
            <a:ln w="9525" cap="rnd">
              <a:solidFill>
                <a:schemeClr val="accent2">
                  <a:alpha val="35000"/>
                </a:schemeClr>
              </a:solidFill>
              <a:prstDash val="lgDash"/>
              <a:round/>
            </a:ln>
          </p:spPr>
          <p:txBody>
            <a:bodyPr rtlCol="0" anchor="ctr"/>
            <a:lstStyle/>
            <a:p>
              <a:endParaRPr lang="en-US"/>
            </a:p>
          </p:txBody>
        </p:sp>
        <p:sp>
          <p:nvSpPr>
            <p:cNvPr id="157" name="Freeform: Shape 156">
              <a:extLst>
                <a:ext uri="{FF2B5EF4-FFF2-40B4-BE49-F238E27FC236}">
                  <a16:creationId xmlns:a16="http://schemas.microsoft.com/office/drawing/2014/main" id="{461A8835-D9FC-4CAB-AF19-A5513B17BA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34043" y="2855696"/>
              <a:ext cx="1200999" cy="3994030"/>
            </a:xfrm>
            <a:custGeom>
              <a:avLst/>
              <a:gdLst>
                <a:gd name="connsiteX0" fmla="*/ 668846 w 668845"/>
                <a:gd name="connsiteY0" fmla="*/ 2224305 h 2224304"/>
                <a:gd name="connsiteX1" fmla="*/ 486918 w 668845"/>
                <a:gd name="connsiteY1" fmla="*/ 1944365 h 2224304"/>
                <a:gd name="connsiteX2" fmla="*/ 376809 w 668845"/>
                <a:gd name="connsiteY2" fmla="*/ 1659663 h 2224304"/>
                <a:gd name="connsiteX3" fmla="*/ 319373 w 668845"/>
                <a:gd name="connsiteY3" fmla="*/ 1425157 h 2224304"/>
                <a:gd name="connsiteX4" fmla="*/ 264319 w 668845"/>
                <a:gd name="connsiteY4" fmla="*/ 1130834 h 2224304"/>
                <a:gd name="connsiteX5" fmla="*/ 278702 w 668845"/>
                <a:gd name="connsiteY5" fmla="*/ 882041 h 2224304"/>
                <a:gd name="connsiteX6" fmla="*/ 302609 w 668845"/>
                <a:gd name="connsiteY6" fmla="*/ 736118 h 2224304"/>
                <a:gd name="connsiteX7" fmla="*/ 360045 w 668845"/>
                <a:gd name="connsiteY7" fmla="*/ 444177 h 2224304"/>
                <a:gd name="connsiteX8" fmla="*/ 386334 w 668845"/>
                <a:gd name="connsiteY8" fmla="*/ 233675 h 2224304"/>
                <a:gd name="connsiteX9" fmla="*/ 0 w 668845"/>
                <a:gd name="connsiteY9" fmla="*/ 56795 h 222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8845" h="2224304">
                  <a:moveTo>
                    <a:pt x="668846" y="2224305"/>
                  </a:moveTo>
                  <a:cubicBezTo>
                    <a:pt x="599218" y="2137151"/>
                    <a:pt x="537210" y="2043996"/>
                    <a:pt x="486918" y="1944365"/>
                  </a:cubicBezTo>
                  <a:cubicBezTo>
                    <a:pt x="441008" y="1853306"/>
                    <a:pt x="404717" y="1757770"/>
                    <a:pt x="376809" y="1659663"/>
                  </a:cubicBezTo>
                  <a:cubicBezTo>
                    <a:pt x="354806" y="1582224"/>
                    <a:pt x="337757" y="1503548"/>
                    <a:pt x="319373" y="1425157"/>
                  </a:cubicBezTo>
                  <a:cubicBezTo>
                    <a:pt x="296418" y="1327811"/>
                    <a:pt x="270510" y="1230657"/>
                    <a:pt x="264319" y="1130834"/>
                  </a:cubicBezTo>
                  <a:cubicBezTo>
                    <a:pt x="259080" y="1047681"/>
                    <a:pt x="266891" y="964528"/>
                    <a:pt x="278702" y="882041"/>
                  </a:cubicBezTo>
                  <a:cubicBezTo>
                    <a:pt x="285655" y="833274"/>
                    <a:pt x="293751" y="784601"/>
                    <a:pt x="302609" y="736118"/>
                  </a:cubicBezTo>
                  <a:cubicBezTo>
                    <a:pt x="320516" y="638582"/>
                    <a:pt x="339471" y="541237"/>
                    <a:pt x="360045" y="444177"/>
                  </a:cubicBezTo>
                  <a:cubicBezTo>
                    <a:pt x="374809" y="374549"/>
                    <a:pt x="389763" y="304541"/>
                    <a:pt x="386334" y="233675"/>
                  </a:cubicBezTo>
                  <a:cubicBezTo>
                    <a:pt x="383191" y="168809"/>
                    <a:pt x="391287" y="-120751"/>
                    <a:pt x="0" y="56795"/>
                  </a:cubicBezTo>
                </a:path>
              </a:pathLst>
            </a:custGeom>
            <a:noFill/>
            <a:ln w="9525" cap="rnd">
              <a:solidFill>
                <a:schemeClr val="accent2">
                  <a:alpha val="35000"/>
                </a:schemeClr>
              </a:solidFill>
              <a:prstDash val="lgDash"/>
              <a:round/>
            </a:ln>
          </p:spPr>
          <p:txBody>
            <a:bodyPr rtlCol="0" anchor="ctr"/>
            <a:lstStyle/>
            <a:p>
              <a:endParaRPr lang="en-US"/>
            </a:p>
          </p:txBody>
        </p:sp>
        <p:sp>
          <p:nvSpPr>
            <p:cNvPr id="158" name="Freeform: Shape 157">
              <a:extLst>
                <a:ext uri="{FF2B5EF4-FFF2-40B4-BE49-F238E27FC236}">
                  <a16:creationId xmlns:a16="http://schemas.microsoft.com/office/drawing/2014/main" id="{54E6BA76-9515-415F-BAC9-76958DA6EB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7437" y="5668418"/>
              <a:ext cx="1982111" cy="1181308"/>
            </a:xfrm>
            <a:custGeom>
              <a:avLst/>
              <a:gdLst>
                <a:gd name="connsiteX0" fmla="*/ 1103852 w 1103852"/>
                <a:gd name="connsiteY0" fmla="*/ 657879 h 657879"/>
                <a:gd name="connsiteX1" fmla="*/ 883063 w 1103852"/>
                <a:gd name="connsiteY1" fmla="*/ 177724 h 657879"/>
                <a:gd name="connsiteX2" fmla="*/ 678085 w 1103852"/>
                <a:gd name="connsiteY2" fmla="*/ 17132 h 657879"/>
                <a:gd name="connsiteX3" fmla="*/ 461962 w 1103852"/>
                <a:gd name="connsiteY3" fmla="*/ 17132 h 657879"/>
                <a:gd name="connsiteX4" fmla="*/ 136398 w 1103852"/>
                <a:gd name="connsiteY4" fmla="*/ 267735 h 657879"/>
                <a:gd name="connsiteX5" fmla="*/ 0 w 1103852"/>
                <a:gd name="connsiteY5" fmla="*/ 650830 h 657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3852" h="657879">
                  <a:moveTo>
                    <a:pt x="1103852" y="657879"/>
                  </a:moveTo>
                  <a:cubicBezTo>
                    <a:pt x="1071563" y="576250"/>
                    <a:pt x="937546" y="246494"/>
                    <a:pt x="883063" y="177724"/>
                  </a:cubicBezTo>
                  <a:cubicBezTo>
                    <a:pt x="828104" y="108382"/>
                    <a:pt x="761238" y="46279"/>
                    <a:pt x="678085" y="17132"/>
                  </a:cubicBezTo>
                  <a:cubicBezTo>
                    <a:pt x="608171" y="-7347"/>
                    <a:pt x="533210" y="-4013"/>
                    <a:pt x="461962" y="17132"/>
                  </a:cubicBezTo>
                  <a:cubicBezTo>
                    <a:pt x="326898" y="57137"/>
                    <a:pt x="214027" y="150101"/>
                    <a:pt x="136398" y="267735"/>
                  </a:cubicBezTo>
                  <a:cubicBezTo>
                    <a:pt x="86773" y="343078"/>
                    <a:pt x="16764" y="562153"/>
                    <a:pt x="0" y="650830"/>
                  </a:cubicBezTo>
                </a:path>
              </a:pathLst>
            </a:custGeom>
            <a:noFill/>
            <a:ln w="9525" cap="rnd">
              <a:solidFill>
                <a:schemeClr val="accent2">
                  <a:alpha val="35000"/>
                </a:schemeClr>
              </a:solidFill>
              <a:prstDash val="lgDash"/>
              <a:round/>
            </a:ln>
          </p:spPr>
          <p:txBody>
            <a:bodyPr rtlCol="0" anchor="ctr"/>
            <a:lstStyle/>
            <a:p>
              <a:endParaRPr lang="en-US"/>
            </a:p>
          </p:txBody>
        </p:sp>
        <p:sp>
          <p:nvSpPr>
            <p:cNvPr id="159" name="Freeform: Shape 158">
              <a:extLst>
                <a:ext uri="{FF2B5EF4-FFF2-40B4-BE49-F238E27FC236}">
                  <a16:creationId xmlns:a16="http://schemas.microsoft.com/office/drawing/2014/main" id="{4C120B3D-CF1C-49AE-B5B4-6BF589737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25817"/>
              <a:ext cx="2282549" cy="5138883"/>
            </a:xfrm>
            <a:custGeom>
              <a:avLst/>
              <a:gdLst>
                <a:gd name="connsiteX0" fmla="*/ 0 w 1271168"/>
                <a:gd name="connsiteY0" fmla="*/ 2861882 h 2861881"/>
                <a:gd name="connsiteX1" fmla="*/ 115157 w 1271168"/>
                <a:gd name="connsiteY1" fmla="*/ 2685002 h 2861881"/>
                <a:gd name="connsiteX2" fmla="*/ 277178 w 1271168"/>
                <a:gd name="connsiteY2" fmla="*/ 2461070 h 2861881"/>
                <a:gd name="connsiteX3" fmla="*/ 421958 w 1271168"/>
                <a:gd name="connsiteY3" fmla="*/ 2209514 h 2861881"/>
                <a:gd name="connsiteX4" fmla="*/ 690848 w 1271168"/>
                <a:gd name="connsiteY4" fmla="*/ 1751267 h 2861881"/>
                <a:gd name="connsiteX5" fmla="*/ 830580 w 1271168"/>
                <a:gd name="connsiteY5" fmla="*/ 1451039 h 2861881"/>
                <a:gd name="connsiteX6" fmla="*/ 917067 w 1271168"/>
                <a:gd name="connsiteY6" fmla="*/ 1276541 h 2861881"/>
                <a:gd name="connsiteX7" fmla="*/ 1114901 w 1271168"/>
                <a:gd name="connsiteY7" fmla="*/ 965835 h 2861881"/>
                <a:gd name="connsiteX8" fmla="*/ 1204627 w 1271168"/>
                <a:gd name="connsiteY8" fmla="*/ 819626 h 2861881"/>
                <a:gd name="connsiteX9" fmla="*/ 1271111 w 1271168"/>
                <a:gd name="connsiteY9" fmla="*/ 585311 h 2861881"/>
                <a:gd name="connsiteX10" fmla="*/ 1128141 w 1271168"/>
                <a:gd name="connsiteY10" fmla="*/ 292894 h 2861881"/>
                <a:gd name="connsiteX11" fmla="*/ 882110 w 1271168"/>
                <a:gd name="connsiteY11" fmla="*/ 135065 h 2861881"/>
                <a:gd name="connsiteX12" fmla="*/ 574929 w 1271168"/>
                <a:gd name="connsiteY12" fmla="*/ 0 h 2861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71168" h="2861881">
                  <a:moveTo>
                    <a:pt x="0" y="2861882"/>
                  </a:moveTo>
                  <a:cubicBezTo>
                    <a:pt x="0" y="2861882"/>
                    <a:pt x="67151" y="2751201"/>
                    <a:pt x="115157" y="2685002"/>
                  </a:cubicBezTo>
                  <a:cubicBezTo>
                    <a:pt x="169259" y="2610326"/>
                    <a:pt x="226981" y="2538317"/>
                    <a:pt x="277178" y="2461070"/>
                  </a:cubicBezTo>
                  <a:cubicBezTo>
                    <a:pt x="329946" y="2379917"/>
                    <a:pt x="374142" y="2293715"/>
                    <a:pt x="421958" y="2209514"/>
                  </a:cubicBezTo>
                  <a:cubicBezTo>
                    <a:pt x="509492" y="2055495"/>
                    <a:pt x="609695" y="1908715"/>
                    <a:pt x="690848" y="1751267"/>
                  </a:cubicBezTo>
                  <a:cubicBezTo>
                    <a:pt x="741426" y="1653159"/>
                    <a:pt x="784670" y="1551432"/>
                    <a:pt x="830580" y="1451039"/>
                  </a:cubicBezTo>
                  <a:cubicBezTo>
                    <a:pt x="857631" y="1391984"/>
                    <a:pt x="885635" y="1333405"/>
                    <a:pt x="917067" y="1276541"/>
                  </a:cubicBezTo>
                  <a:cubicBezTo>
                    <a:pt x="976408" y="1169003"/>
                    <a:pt x="1046417" y="1067848"/>
                    <a:pt x="1114901" y="965835"/>
                  </a:cubicBezTo>
                  <a:cubicBezTo>
                    <a:pt x="1146810" y="918305"/>
                    <a:pt x="1177671" y="870109"/>
                    <a:pt x="1204627" y="819626"/>
                  </a:cubicBezTo>
                  <a:cubicBezTo>
                    <a:pt x="1243679" y="746665"/>
                    <a:pt x="1272635" y="667703"/>
                    <a:pt x="1271111" y="585311"/>
                  </a:cubicBezTo>
                  <a:cubicBezTo>
                    <a:pt x="1269111" y="473012"/>
                    <a:pt x="1209485" y="371284"/>
                    <a:pt x="1128141" y="292894"/>
                  </a:cubicBezTo>
                  <a:cubicBezTo>
                    <a:pt x="1057561" y="224790"/>
                    <a:pt x="971836" y="175260"/>
                    <a:pt x="882110" y="135065"/>
                  </a:cubicBezTo>
                  <a:cubicBezTo>
                    <a:pt x="779907" y="89249"/>
                    <a:pt x="672560" y="54673"/>
                    <a:pt x="574929" y="0"/>
                  </a:cubicBezTo>
                </a:path>
              </a:pathLst>
            </a:custGeom>
            <a:noFill/>
            <a:ln w="9525" cap="rnd">
              <a:solidFill>
                <a:schemeClr val="accent2">
                  <a:alpha val="35000"/>
                </a:schemeClr>
              </a:solidFill>
              <a:prstDash val="lgDash"/>
              <a:round/>
            </a:ln>
          </p:spPr>
          <p:txBody>
            <a:bodyPr rtlCol="0" anchor="ctr"/>
            <a:lstStyle/>
            <a:p>
              <a:endParaRPr lang="en-US"/>
            </a:p>
          </p:txBody>
        </p:sp>
        <p:sp>
          <p:nvSpPr>
            <p:cNvPr id="51" name="Freeform: Shape 50">
              <a:extLst>
                <a:ext uri="{FF2B5EF4-FFF2-40B4-BE49-F238E27FC236}">
                  <a16:creationId xmlns:a16="http://schemas.microsoft.com/office/drawing/2014/main" id="{5F7B6392-DF04-4EF6-A433-4A7A757D65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53524"/>
              <a:ext cx="1650357" cy="4733534"/>
            </a:xfrm>
            <a:custGeom>
              <a:avLst/>
              <a:gdLst>
                <a:gd name="connsiteX0" fmla="*/ 0 w 919096"/>
                <a:gd name="connsiteY0" fmla="*/ 2636139 h 2636139"/>
                <a:gd name="connsiteX1" fmla="*/ 274415 w 919096"/>
                <a:gd name="connsiteY1" fmla="*/ 2218277 h 2636139"/>
                <a:gd name="connsiteX2" fmla="*/ 607981 w 919096"/>
                <a:gd name="connsiteY2" fmla="*/ 1655921 h 2636139"/>
                <a:gd name="connsiteX3" fmla="*/ 792290 w 919096"/>
                <a:gd name="connsiteY3" fmla="*/ 1163003 h 2636139"/>
                <a:gd name="connsiteX4" fmla="*/ 914400 w 919096"/>
                <a:gd name="connsiteY4" fmla="*/ 808863 h 2636139"/>
                <a:gd name="connsiteX5" fmla="*/ 847344 w 919096"/>
                <a:gd name="connsiteY5" fmla="*/ 516922 h 2636139"/>
                <a:gd name="connsiteX6" fmla="*/ 610362 w 919096"/>
                <a:gd name="connsiteY6" fmla="*/ 366141 h 2636139"/>
                <a:gd name="connsiteX7" fmla="*/ 361379 w 919096"/>
                <a:gd name="connsiteY7" fmla="*/ 222599 h 2636139"/>
                <a:gd name="connsiteX8" fmla="*/ 67056 w 919096"/>
                <a:gd name="connsiteY8" fmla="*/ 0 h 2636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9096" h="2636139">
                  <a:moveTo>
                    <a:pt x="0" y="2636139"/>
                  </a:moveTo>
                  <a:cubicBezTo>
                    <a:pt x="0" y="2636139"/>
                    <a:pt x="162020" y="2392394"/>
                    <a:pt x="274415" y="2218277"/>
                  </a:cubicBezTo>
                  <a:cubicBezTo>
                    <a:pt x="392906" y="2034730"/>
                    <a:pt x="518732" y="1854994"/>
                    <a:pt x="607981" y="1655921"/>
                  </a:cubicBezTo>
                  <a:cubicBezTo>
                    <a:pt x="679799" y="1495806"/>
                    <a:pt x="726091" y="1325594"/>
                    <a:pt x="792290" y="1163003"/>
                  </a:cubicBezTo>
                  <a:cubicBezTo>
                    <a:pt x="839724" y="1046607"/>
                    <a:pt x="897922" y="933164"/>
                    <a:pt x="914400" y="808863"/>
                  </a:cubicBezTo>
                  <a:cubicBezTo>
                    <a:pt x="928116" y="705326"/>
                    <a:pt x="913543" y="596932"/>
                    <a:pt x="847344" y="516922"/>
                  </a:cubicBezTo>
                  <a:cubicBezTo>
                    <a:pt x="786956" y="444056"/>
                    <a:pt x="696087" y="407956"/>
                    <a:pt x="610362" y="366141"/>
                  </a:cubicBezTo>
                  <a:cubicBezTo>
                    <a:pt x="524161" y="324136"/>
                    <a:pt x="442722" y="273272"/>
                    <a:pt x="361379" y="222599"/>
                  </a:cubicBezTo>
                  <a:cubicBezTo>
                    <a:pt x="245459" y="150400"/>
                    <a:pt x="126968" y="121348"/>
                    <a:pt x="67056" y="0"/>
                  </a:cubicBezTo>
                </a:path>
              </a:pathLst>
            </a:custGeom>
            <a:noFill/>
            <a:ln w="9525" cap="rnd">
              <a:solidFill>
                <a:schemeClr val="accent2">
                  <a:alpha val="35000"/>
                </a:schemeClr>
              </a:solidFill>
              <a:prstDash val="lgDash"/>
              <a:round/>
            </a:ln>
          </p:spPr>
          <p:txBody>
            <a:bodyPr rtlCol="0" anchor="ctr"/>
            <a:lstStyle/>
            <a:p>
              <a:endParaRPr lang="en-US"/>
            </a:p>
          </p:txBody>
        </p:sp>
        <p:sp>
          <p:nvSpPr>
            <p:cNvPr id="160" name="Freeform: Shape 159">
              <a:extLst>
                <a:ext uri="{FF2B5EF4-FFF2-40B4-BE49-F238E27FC236}">
                  <a16:creationId xmlns:a16="http://schemas.microsoft.com/office/drawing/2014/main" id="{CFB987BC-4338-4C63-8DB9-5CB9DC4890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379002"/>
              <a:ext cx="1123546" cy="4116271"/>
            </a:xfrm>
            <a:custGeom>
              <a:avLst/>
              <a:gdLst>
                <a:gd name="connsiteX0" fmla="*/ 0 w 625711"/>
                <a:gd name="connsiteY0" fmla="*/ 2292382 h 2292381"/>
                <a:gd name="connsiteX1" fmla="*/ 181070 w 625711"/>
                <a:gd name="connsiteY1" fmla="*/ 2019967 h 2292381"/>
                <a:gd name="connsiteX2" fmla="*/ 385000 w 625711"/>
                <a:gd name="connsiteY2" fmla="*/ 1640967 h 2292381"/>
                <a:gd name="connsiteX3" fmla="*/ 514255 w 625711"/>
                <a:gd name="connsiteY3" fmla="*/ 1376839 h 2292381"/>
                <a:gd name="connsiteX4" fmla="*/ 606171 w 625711"/>
                <a:gd name="connsiteY4" fmla="*/ 1015079 h 2292381"/>
                <a:gd name="connsiteX5" fmla="*/ 606171 w 625711"/>
                <a:gd name="connsiteY5" fmla="*/ 673418 h 2292381"/>
                <a:gd name="connsiteX6" fmla="*/ 485489 w 625711"/>
                <a:gd name="connsiteY6" fmla="*/ 475297 h 2292381"/>
                <a:gd name="connsiteX7" fmla="*/ 313182 w 625711"/>
                <a:gd name="connsiteY7" fmla="*/ 328898 h 2292381"/>
                <a:gd name="connsiteX8" fmla="*/ 173831 w 625711"/>
                <a:gd name="connsiteY8" fmla="*/ 189643 h 2292381"/>
                <a:gd name="connsiteX9" fmla="*/ 0 w 625711"/>
                <a:gd name="connsiteY9" fmla="*/ 0 h 2292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5711" h="2292381">
                  <a:moveTo>
                    <a:pt x="0" y="2292382"/>
                  </a:moveTo>
                  <a:cubicBezTo>
                    <a:pt x="0" y="2292382"/>
                    <a:pt x="110776" y="2140363"/>
                    <a:pt x="181070" y="2019967"/>
                  </a:cubicBezTo>
                  <a:cubicBezTo>
                    <a:pt x="253460" y="1896047"/>
                    <a:pt x="318325" y="1768031"/>
                    <a:pt x="385000" y="1640967"/>
                  </a:cubicBezTo>
                  <a:cubicBezTo>
                    <a:pt x="430625" y="1554099"/>
                    <a:pt x="478536" y="1468184"/>
                    <a:pt x="514255" y="1376839"/>
                  </a:cubicBezTo>
                  <a:cubicBezTo>
                    <a:pt x="559689" y="1260634"/>
                    <a:pt x="585788" y="1138333"/>
                    <a:pt x="606171" y="1015079"/>
                  </a:cubicBezTo>
                  <a:cubicBezTo>
                    <a:pt x="625031" y="900779"/>
                    <a:pt x="638556" y="784003"/>
                    <a:pt x="606171" y="673418"/>
                  </a:cubicBezTo>
                  <a:cubicBezTo>
                    <a:pt x="584168" y="598075"/>
                    <a:pt x="540258" y="531590"/>
                    <a:pt x="485489" y="475297"/>
                  </a:cubicBezTo>
                  <a:cubicBezTo>
                    <a:pt x="432911" y="421195"/>
                    <a:pt x="369475" y="379095"/>
                    <a:pt x="313182" y="328898"/>
                  </a:cubicBezTo>
                  <a:cubicBezTo>
                    <a:pt x="264128" y="285179"/>
                    <a:pt x="219361" y="237077"/>
                    <a:pt x="173831" y="189643"/>
                  </a:cubicBezTo>
                  <a:cubicBezTo>
                    <a:pt x="109347" y="122111"/>
                    <a:pt x="0" y="0"/>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161" name="Freeform: Shape 160">
              <a:extLst>
                <a:ext uri="{FF2B5EF4-FFF2-40B4-BE49-F238E27FC236}">
                  <a16:creationId xmlns:a16="http://schemas.microsoft.com/office/drawing/2014/main" id="{F0B5029E-655F-4CB5-BCA2-B62400CE7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798206"/>
              <a:ext cx="756945" cy="3350210"/>
            </a:xfrm>
            <a:custGeom>
              <a:avLst/>
              <a:gdLst>
                <a:gd name="connsiteX0" fmla="*/ 0 w 421548"/>
                <a:gd name="connsiteY0" fmla="*/ 0 h 1865756"/>
                <a:gd name="connsiteX1" fmla="*/ 258699 w 421548"/>
                <a:gd name="connsiteY1" fmla="*/ 330803 h 1865756"/>
                <a:gd name="connsiteX2" fmla="*/ 408051 w 421548"/>
                <a:gd name="connsiteY2" fmla="*/ 617887 h 1865756"/>
                <a:gd name="connsiteX3" fmla="*/ 408051 w 421548"/>
                <a:gd name="connsiteY3" fmla="*/ 910781 h 1865756"/>
                <a:gd name="connsiteX4" fmla="*/ 336233 w 421548"/>
                <a:gd name="connsiteY4" fmla="*/ 1269683 h 1865756"/>
                <a:gd name="connsiteX5" fmla="*/ 186881 w 421548"/>
                <a:gd name="connsiteY5" fmla="*/ 1582674 h 1865756"/>
                <a:gd name="connsiteX6" fmla="*/ 0 w 421548"/>
                <a:gd name="connsiteY6" fmla="*/ 1865757 h 1865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548" h="1865756">
                  <a:moveTo>
                    <a:pt x="0" y="0"/>
                  </a:moveTo>
                  <a:cubicBezTo>
                    <a:pt x="0" y="0"/>
                    <a:pt x="155734" y="188309"/>
                    <a:pt x="258699" y="330803"/>
                  </a:cubicBezTo>
                  <a:cubicBezTo>
                    <a:pt x="322517" y="419100"/>
                    <a:pt x="383096" y="512255"/>
                    <a:pt x="408051" y="617887"/>
                  </a:cubicBezTo>
                  <a:cubicBezTo>
                    <a:pt x="430625" y="713613"/>
                    <a:pt x="420815" y="812768"/>
                    <a:pt x="408051" y="910781"/>
                  </a:cubicBezTo>
                  <a:cubicBezTo>
                    <a:pt x="392240" y="1032129"/>
                    <a:pt x="376142" y="1154049"/>
                    <a:pt x="336233" y="1269683"/>
                  </a:cubicBezTo>
                  <a:cubicBezTo>
                    <a:pt x="298418" y="1379125"/>
                    <a:pt x="246412" y="1483138"/>
                    <a:pt x="186881" y="1582674"/>
                  </a:cubicBezTo>
                  <a:cubicBezTo>
                    <a:pt x="122777" y="1689640"/>
                    <a:pt x="0" y="1865757"/>
                    <a:pt x="0" y="1865757"/>
                  </a:cubicBezTo>
                </a:path>
              </a:pathLst>
            </a:custGeom>
            <a:noFill/>
            <a:ln w="9525" cap="rnd">
              <a:solidFill>
                <a:schemeClr val="accent2">
                  <a:alpha val="35000"/>
                </a:schemeClr>
              </a:solidFill>
              <a:prstDash val="lgDash"/>
              <a:round/>
            </a:ln>
          </p:spPr>
          <p:txBody>
            <a:bodyPr rtlCol="0" anchor="ctr"/>
            <a:lstStyle/>
            <a:p>
              <a:endParaRPr lang="en-US"/>
            </a:p>
          </p:txBody>
        </p:sp>
        <p:sp>
          <p:nvSpPr>
            <p:cNvPr id="162" name="Freeform: Shape 161">
              <a:extLst>
                <a:ext uri="{FF2B5EF4-FFF2-40B4-BE49-F238E27FC236}">
                  <a16:creationId xmlns:a16="http://schemas.microsoft.com/office/drawing/2014/main" id="{966F436B-D502-4927-A05D-0691A99F65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1247513"/>
              <a:ext cx="515229" cy="2438941"/>
            </a:xfrm>
            <a:custGeom>
              <a:avLst/>
              <a:gdLst>
                <a:gd name="connsiteX0" fmla="*/ 11621 w 286935"/>
                <a:gd name="connsiteY0" fmla="*/ 1358265 h 1358264"/>
                <a:gd name="connsiteX1" fmla="*/ 163830 w 286935"/>
                <a:gd name="connsiteY1" fmla="*/ 1157287 h 1358264"/>
                <a:gd name="connsiteX2" fmla="*/ 258604 w 286935"/>
                <a:gd name="connsiteY2" fmla="*/ 858679 h 1358264"/>
                <a:gd name="connsiteX3" fmla="*/ 284417 w 286935"/>
                <a:gd name="connsiteY3" fmla="*/ 577310 h 1358264"/>
                <a:gd name="connsiteX4" fmla="*/ 215456 w 286935"/>
                <a:gd name="connsiteY4" fmla="*/ 330422 h 1358264"/>
                <a:gd name="connsiteX5" fmla="*/ 0 w 286935"/>
                <a:gd name="connsiteY5" fmla="*/ 0 h 1358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6935" h="1358264">
                  <a:moveTo>
                    <a:pt x="11621" y="1358265"/>
                  </a:moveTo>
                  <a:cubicBezTo>
                    <a:pt x="11621" y="1358265"/>
                    <a:pt x="104299" y="1269016"/>
                    <a:pt x="163830" y="1157287"/>
                  </a:cubicBezTo>
                  <a:cubicBezTo>
                    <a:pt x="213074" y="1064800"/>
                    <a:pt x="237458" y="961453"/>
                    <a:pt x="258604" y="858679"/>
                  </a:cubicBezTo>
                  <a:cubicBezTo>
                    <a:pt x="277749" y="765905"/>
                    <a:pt x="293180" y="671512"/>
                    <a:pt x="284417" y="577310"/>
                  </a:cubicBezTo>
                  <a:cubicBezTo>
                    <a:pt x="276511" y="491680"/>
                    <a:pt x="250412" y="409099"/>
                    <a:pt x="215456" y="330422"/>
                  </a:cubicBezTo>
                  <a:cubicBezTo>
                    <a:pt x="153353" y="190405"/>
                    <a:pt x="0" y="0"/>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163" name="Freeform: Shape 162">
              <a:extLst>
                <a:ext uri="{FF2B5EF4-FFF2-40B4-BE49-F238E27FC236}">
                  <a16:creationId xmlns:a16="http://schemas.microsoft.com/office/drawing/2014/main" id="{63D19BC0-342A-4662-8B01-078F5BC25F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103" y="1752232"/>
              <a:ext cx="300409" cy="1599679"/>
            </a:xfrm>
            <a:custGeom>
              <a:avLst/>
              <a:gdLst>
                <a:gd name="connsiteX0" fmla="*/ 0 w 167300"/>
                <a:gd name="connsiteY0" fmla="*/ 0 h 890873"/>
                <a:gd name="connsiteX1" fmla="*/ 143732 w 167300"/>
                <a:gd name="connsiteY1" fmla="*/ 233077 h 890873"/>
                <a:gd name="connsiteX2" fmla="*/ 160973 w 167300"/>
                <a:gd name="connsiteY2" fmla="*/ 482822 h 890873"/>
                <a:gd name="connsiteX3" fmla="*/ 0 w 167300"/>
                <a:gd name="connsiteY3" fmla="*/ 890873 h 890873"/>
              </a:gdLst>
              <a:ahLst/>
              <a:cxnLst>
                <a:cxn ang="0">
                  <a:pos x="connsiteX0" y="connsiteY0"/>
                </a:cxn>
                <a:cxn ang="0">
                  <a:pos x="connsiteX1" y="connsiteY1"/>
                </a:cxn>
                <a:cxn ang="0">
                  <a:pos x="connsiteX2" y="connsiteY2"/>
                </a:cxn>
                <a:cxn ang="0">
                  <a:pos x="connsiteX3" y="connsiteY3"/>
                </a:cxn>
              </a:cxnLst>
              <a:rect l="l" t="t" r="r" b="b"/>
              <a:pathLst>
                <a:path w="167300" h="890873">
                  <a:moveTo>
                    <a:pt x="0" y="0"/>
                  </a:moveTo>
                  <a:cubicBezTo>
                    <a:pt x="0" y="0"/>
                    <a:pt x="110585" y="127254"/>
                    <a:pt x="143732" y="233077"/>
                  </a:cubicBezTo>
                  <a:cubicBezTo>
                    <a:pt x="168974" y="313563"/>
                    <a:pt x="172593" y="399098"/>
                    <a:pt x="160973" y="482822"/>
                  </a:cubicBezTo>
                  <a:cubicBezTo>
                    <a:pt x="136970" y="655892"/>
                    <a:pt x="0" y="890873"/>
                    <a:pt x="0" y="890873"/>
                  </a:cubicBezTo>
                </a:path>
              </a:pathLst>
            </a:custGeom>
            <a:noFill/>
            <a:ln w="9525" cap="rnd">
              <a:solidFill>
                <a:schemeClr val="accent2">
                  <a:alpha val="35000"/>
                </a:schemeClr>
              </a:solidFill>
              <a:prstDash val="lgDash"/>
              <a:round/>
            </a:ln>
          </p:spPr>
          <p:txBody>
            <a:bodyPr rtlCol="0" anchor="ctr"/>
            <a:lstStyle/>
            <a:p>
              <a:endParaRPr lang="en-US"/>
            </a:p>
          </p:txBody>
        </p:sp>
        <p:sp>
          <p:nvSpPr>
            <p:cNvPr id="164" name="Freeform: Shape 163">
              <a:extLst>
                <a:ext uri="{FF2B5EF4-FFF2-40B4-BE49-F238E27FC236}">
                  <a16:creationId xmlns:a16="http://schemas.microsoft.com/office/drawing/2014/main" id="{DF32521F-B67B-4D14-BB6E-0DD27E1C70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131253" y="14016"/>
              <a:ext cx="5523537" cy="3012568"/>
            </a:xfrm>
            <a:custGeom>
              <a:avLst/>
              <a:gdLst>
                <a:gd name="connsiteX0" fmla="*/ 3076099 w 3076098"/>
                <a:gd name="connsiteY0" fmla="*/ 12287 h 1677721"/>
                <a:gd name="connsiteX1" fmla="*/ 3054287 w 3076098"/>
                <a:gd name="connsiteY1" fmla="*/ 609029 h 1677721"/>
                <a:gd name="connsiteX2" fmla="*/ 3054287 w 3076098"/>
                <a:gd name="connsiteY2" fmla="*/ 824770 h 1677721"/>
                <a:gd name="connsiteX3" fmla="*/ 3002375 w 3076098"/>
                <a:gd name="connsiteY3" fmla="*/ 1158240 h 1677721"/>
                <a:gd name="connsiteX4" fmla="*/ 2945797 w 3076098"/>
                <a:gd name="connsiteY4" fmla="*/ 1277112 h 1677721"/>
                <a:gd name="connsiteX5" fmla="*/ 2706815 w 3076098"/>
                <a:gd name="connsiteY5" fmla="*/ 1492853 h 1677721"/>
                <a:gd name="connsiteX6" fmla="*/ 2451735 w 3076098"/>
                <a:gd name="connsiteY6" fmla="*/ 1618583 h 1677721"/>
                <a:gd name="connsiteX7" fmla="*/ 2128457 w 3076098"/>
                <a:gd name="connsiteY7" fmla="*/ 1677448 h 1677721"/>
                <a:gd name="connsiteX8" fmla="*/ 1672495 w 3076098"/>
                <a:gd name="connsiteY8" fmla="*/ 1505522 h 1677721"/>
                <a:gd name="connsiteX9" fmla="*/ 1445038 w 3076098"/>
                <a:gd name="connsiteY9" fmla="*/ 1230916 h 1677721"/>
                <a:gd name="connsiteX10" fmla="*/ 1381506 w 3076098"/>
                <a:gd name="connsiteY10" fmla="*/ 1044035 h 1677721"/>
                <a:gd name="connsiteX11" fmla="*/ 1260253 w 3076098"/>
                <a:gd name="connsiteY11" fmla="*/ 837533 h 1677721"/>
                <a:gd name="connsiteX12" fmla="*/ 1108520 w 3076098"/>
                <a:gd name="connsiteY12" fmla="*/ 772954 h 1677721"/>
                <a:gd name="connsiteX13" fmla="*/ 955358 w 3076098"/>
                <a:gd name="connsiteY13" fmla="*/ 751427 h 1677721"/>
                <a:gd name="connsiteX14" fmla="*/ 763810 w 3076098"/>
                <a:gd name="connsiteY14" fmla="*/ 764762 h 1677721"/>
                <a:gd name="connsiteX15" fmla="*/ 651224 w 3076098"/>
                <a:gd name="connsiteY15" fmla="*/ 728186 h 1677721"/>
                <a:gd name="connsiteX16" fmla="*/ 510730 w 3076098"/>
                <a:gd name="connsiteY16" fmla="*/ 587788 h 1677721"/>
                <a:gd name="connsiteX17" fmla="*/ 323183 w 3076098"/>
                <a:gd name="connsiteY17" fmla="*/ 353187 h 1677721"/>
                <a:gd name="connsiteX18" fmla="*/ 0 w 3076098"/>
                <a:gd name="connsiteY18" fmla="*/ 0 h 1677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76098" h="1677721">
                  <a:moveTo>
                    <a:pt x="3076099" y="12287"/>
                  </a:moveTo>
                  <a:cubicBezTo>
                    <a:pt x="3069336" y="183071"/>
                    <a:pt x="3053525" y="438150"/>
                    <a:pt x="3054287" y="609029"/>
                  </a:cubicBezTo>
                  <a:cubicBezTo>
                    <a:pt x="3054572" y="680942"/>
                    <a:pt x="3056477" y="752856"/>
                    <a:pt x="3054287" y="824770"/>
                  </a:cubicBezTo>
                  <a:cubicBezTo>
                    <a:pt x="3050858" y="937832"/>
                    <a:pt x="3038285" y="1051084"/>
                    <a:pt x="3002375" y="1158240"/>
                  </a:cubicBezTo>
                  <a:cubicBezTo>
                    <a:pt x="2988374" y="1200055"/>
                    <a:pt x="2969895" y="1240155"/>
                    <a:pt x="2945797" y="1277112"/>
                  </a:cubicBezTo>
                  <a:cubicBezTo>
                    <a:pt x="2886742" y="1367885"/>
                    <a:pt x="2798636" y="1434846"/>
                    <a:pt x="2706815" y="1492853"/>
                  </a:cubicBezTo>
                  <a:cubicBezTo>
                    <a:pt x="2626424" y="1543717"/>
                    <a:pt x="2541080" y="1586103"/>
                    <a:pt x="2451735" y="1618583"/>
                  </a:cubicBezTo>
                  <a:cubicBezTo>
                    <a:pt x="2347817" y="1656398"/>
                    <a:pt x="2238851" y="1680591"/>
                    <a:pt x="2128457" y="1677448"/>
                  </a:cubicBezTo>
                  <a:cubicBezTo>
                    <a:pt x="1962436" y="1672781"/>
                    <a:pt x="1804702" y="1606677"/>
                    <a:pt x="1672495" y="1505522"/>
                  </a:cubicBezTo>
                  <a:cubicBezTo>
                    <a:pt x="1576483" y="1432084"/>
                    <a:pt x="1493520" y="1341501"/>
                    <a:pt x="1445038" y="1230916"/>
                  </a:cubicBezTo>
                  <a:cubicBezTo>
                    <a:pt x="1418653" y="1170623"/>
                    <a:pt x="1401794" y="1106710"/>
                    <a:pt x="1381506" y="1044035"/>
                  </a:cubicBezTo>
                  <a:cubicBezTo>
                    <a:pt x="1356360" y="966026"/>
                    <a:pt x="1324261" y="887730"/>
                    <a:pt x="1260253" y="837533"/>
                  </a:cubicBezTo>
                  <a:cubicBezTo>
                    <a:pt x="1216628" y="803243"/>
                    <a:pt x="1162717" y="786194"/>
                    <a:pt x="1108520" y="772954"/>
                  </a:cubicBezTo>
                  <a:cubicBezTo>
                    <a:pt x="1058228" y="760667"/>
                    <a:pt x="1007078" y="750570"/>
                    <a:pt x="955358" y="751427"/>
                  </a:cubicBezTo>
                  <a:cubicBezTo>
                    <a:pt x="891064" y="752475"/>
                    <a:pt x="827818" y="770001"/>
                    <a:pt x="763810" y="764762"/>
                  </a:cubicBezTo>
                  <a:cubicBezTo>
                    <a:pt x="723995" y="761524"/>
                    <a:pt x="685514" y="748760"/>
                    <a:pt x="651224" y="728186"/>
                  </a:cubicBezTo>
                  <a:cubicBezTo>
                    <a:pt x="594074" y="693896"/>
                    <a:pt x="552545" y="639985"/>
                    <a:pt x="510730" y="587788"/>
                  </a:cubicBezTo>
                  <a:cubicBezTo>
                    <a:pt x="448151" y="509683"/>
                    <a:pt x="384524" y="432245"/>
                    <a:pt x="323183" y="353187"/>
                  </a:cubicBezTo>
                  <a:cubicBezTo>
                    <a:pt x="246221" y="253937"/>
                    <a:pt x="94202" y="82868"/>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165" name="Freeform: Shape 164">
              <a:extLst>
                <a:ext uri="{FF2B5EF4-FFF2-40B4-BE49-F238E27FC236}">
                  <a16:creationId xmlns:a16="http://schemas.microsoft.com/office/drawing/2014/main" id="{56F73602-5ACB-4102-894B-D140E71E67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87455" y="75587"/>
              <a:ext cx="4681672" cy="2637228"/>
            </a:xfrm>
            <a:custGeom>
              <a:avLst/>
              <a:gdLst>
                <a:gd name="connsiteX0" fmla="*/ 2568321 w 2607257"/>
                <a:gd name="connsiteY0" fmla="*/ 18002 h 1468691"/>
                <a:gd name="connsiteX1" fmla="*/ 2590609 w 2607257"/>
                <a:gd name="connsiteY1" fmla="*/ 258509 h 1468691"/>
                <a:gd name="connsiteX2" fmla="*/ 2606802 w 2607257"/>
                <a:gd name="connsiteY2" fmla="*/ 563118 h 1468691"/>
                <a:gd name="connsiteX3" fmla="*/ 2587181 w 2607257"/>
                <a:gd name="connsiteY3" fmla="*/ 910400 h 1468691"/>
                <a:gd name="connsiteX4" fmla="*/ 2568702 w 2607257"/>
                <a:gd name="connsiteY4" fmla="*/ 1001554 h 1468691"/>
                <a:gd name="connsiteX5" fmla="*/ 2407063 w 2607257"/>
                <a:gd name="connsiteY5" fmla="*/ 1262348 h 1468691"/>
                <a:gd name="connsiteX6" fmla="*/ 2211896 w 2607257"/>
                <a:gd name="connsiteY6" fmla="*/ 1390078 h 1468691"/>
                <a:gd name="connsiteX7" fmla="*/ 1936623 w 2607257"/>
                <a:gd name="connsiteY7" fmla="*/ 1466660 h 1468691"/>
                <a:gd name="connsiteX8" fmla="*/ 1749933 w 2607257"/>
                <a:gd name="connsiteY8" fmla="*/ 1447514 h 1468691"/>
                <a:gd name="connsiteX9" fmla="*/ 1594295 w 2607257"/>
                <a:gd name="connsiteY9" fmla="*/ 1351788 h 1468691"/>
                <a:gd name="connsiteX10" fmla="*/ 1512951 w 2607257"/>
                <a:gd name="connsiteY10" fmla="*/ 1227392 h 1468691"/>
                <a:gd name="connsiteX11" fmla="*/ 1500949 w 2607257"/>
                <a:gd name="connsiteY11" fmla="*/ 992886 h 1468691"/>
                <a:gd name="connsiteX12" fmla="*/ 1541621 w 2607257"/>
                <a:gd name="connsiteY12" fmla="*/ 803910 h 1468691"/>
                <a:gd name="connsiteX13" fmla="*/ 1541621 w 2607257"/>
                <a:gd name="connsiteY13" fmla="*/ 665131 h 1468691"/>
                <a:gd name="connsiteX14" fmla="*/ 1429131 w 2607257"/>
                <a:gd name="connsiteY14" fmla="*/ 526352 h 1468691"/>
                <a:gd name="connsiteX15" fmla="*/ 1163383 w 2607257"/>
                <a:gd name="connsiteY15" fmla="*/ 449771 h 1468691"/>
                <a:gd name="connsiteX16" fmla="*/ 811530 w 2607257"/>
                <a:gd name="connsiteY16" fmla="*/ 406718 h 1468691"/>
                <a:gd name="connsiteX17" fmla="*/ 574548 w 2607257"/>
                <a:gd name="connsiteY17" fmla="*/ 354044 h 1468691"/>
                <a:gd name="connsiteX18" fmla="*/ 284893 w 2607257"/>
                <a:gd name="connsiteY18" fmla="*/ 224885 h 1468691"/>
                <a:gd name="connsiteX19" fmla="*/ 0 w 2607257"/>
                <a:gd name="connsiteY19" fmla="*/ 0 h 1468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607257" h="1468691">
                  <a:moveTo>
                    <a:pt x="2568321" y="18002"/>
                  </a:moveTo>
                  <a:cubicBezTo>
                    <a:pt x="2574989" y="70009"/>
                    <a:pt x="2587752" y="206121"/>
                    <a:pt x="2590609" y="258509"/>
                  </a:cubicBezTo>
                  <a:cubicBezTo>
                    <a:pt x="2596134" y="360045"/>
                    <a:pt x="2604707" y="461486"/>
                    <a:pt x="2606802" y="563118"/>
                  </a:cubicBezTo>
                  <a:cubicBezTo>
                    <a:pt x="2609088" y="679228"/>
                    <a:pt x="2602802" y="795338"/>
                    <a:pt x="2587181" y="910400"/>
                  </a:cubicBezTo>
                  <a:cubicBezTo>
                    <a:pt x="2582990" y="941165"/>
                    <a:pt x="2577274" y="971645"/>
                    <a:pt x="2568702" y="1001554"/>
                  </a:cubicBezTo>
                  <a:cubicBezTo>
                    <a:pt x="2540222" y="1101471"/>
                    <a:pt x="2482501" y="1190816"/>
                    <a:pt x="2407063" y="1262348"/>
                  </a:cubicBezTo>
                  <a:cubicBezTo>
                    <a:pt x="2350294" y="1316165"/>
                    <a:pt x="2283047" y="1357313"/>
                    <a:pt x="2211896" y="1390078"/>
                  </a:cubicBezTo>
                  <a:cubicBezTo>
                    <a:pt x="2124742" y="1430179"/>
                    <a:pt x="2032159" y="1458754"/>
                    <a:pt x="1936623" y="1466660"/>
                  </a:cubicBezTo>
                  <a:cubicBezTo>
                    <a:pt x="1873567" y="1471898"/>
                    <a:pt x="1809845" y="1467517"/>
                    <a:pt x="1749933" y="1447514"/>
                  </a:cubicBezTo>
                  <a:cubicBezTo>
                    <a:pt x="1691449" y="1428083"/>
                    <a:pt x="1638109" y="1395222"/>
                    <a:pt x="1594295" y="1351788"/>
                  </a:cubicBezTo>
                  <a:cubicBezTo>
                    <a:pt x="1558576" y="1316450"/>
                    <a:pt x="1530001" y="1274540"/>
                    <a:pt x="1512951" y="1227392"/>
                  </a:cubicBezTo>
                  <a:cubicBezTo>
                    <a:pt x="1485900" y="1152811"/>
                    <a:pt x="1487519" y="1071467"/>
                    <a:pt x="1500949" y="992886"/>
                  </a:cubicBezTo>
                  <a:cubicBezTo>
                    <a:pt x="1511808" y="929354"/>
                    <a:pt x="1529810" y="867251"/>
                    <a:pt x="1541621" y="803910"/>
                  </a:cubicBezTo>
                  <a:cubicBezTo>
                    <a:pt x="1550194" y="757714"/>
                    <a:pt x="1554194" y="710279"/>
                    <a:pt x="1541621" y="665131"/>
                  </a:cubicBezTo>
                  <a:cubicBezTo>
                    <a:pt x="1525143" y="605981"/>
                    <a:pt x="1481233" y="559403"/>
                    <a:pt x="1429131" y="526352"/>
                  </a:cubicBezTo>
                  <a:cubicBezTo>
                    <a:pt x="1350455" y="476536"/>
                    <a:pt x="1256157" y="461772"/>
                    <a:pt x="1163383" y="449771"/>
                  </a:cubicBezTo>
                  <a:cubicBezTo>
                    <a:pt x="1046131" y="434626"/>
                    <a:pt x="928306" y="424720"/>
                    <a:pt x="811530" y="406718"/>
                  </a:cubicBezTo>
                  <a:cubicBezTo>
                    <a:pt x="731425" y="394335"/>
                    <a:pt x="652081" y="377571"/>
                    <a:pt x="574548" y="354044"/>
                  </a:cubicBezTo>
                  <a:cubicBezTo>
                    <a:pt x="472916" y="323279"/>
                    <a:pt x="375094" y="280702"/>
                    <a:pt x="284893" y="224885"/>
                  </a:cubicBezTo>
                  <a:cubicBezTo>
                    <a:pt x="181832" y="161068"/>
                    <a:pt x="90868" y="80296"/>
                    <a:pt x="0" y="0"/>
                  </a:cubicBezTo>
                </a:path>
              </a:pathLst>
            </a:custGeom>
            <a:noFill/>
            <a:ln w="9525" cap="rnd">
              <a:solidFill>
                <a:schemeClr val="accent2">
                  <a:alpha val="35000"/>
                </a:schemeClr>
              </a:solidFill>
              <a:prstDash val="lgDash"/>
              <a:round/>
            </a:ln>
          </p:spPr>
          <p:txBody>
            <a:bodyPr rtlCol="0" anchor="ctr"/>
            <a:lstStyle/>
            <a:p>
              <a:endParaRPr lang="en-US"/>
            </a:p>
          </p:txBody>
        </p:sp>
        <p:sp>
          <p:nvSpPr>
            <p:cNvPr id="166" name="Freeform: Shape 165">
              <a:extLst>
                <a:ext uri="{FF2B5EF4-FFF2-40B4-BE49-F238E27FC236}">
                  <a16:creationId xmlns:a16="http://schemas.microsoft.com/office/drawing/2014/main" id="{E87FA368-45DC-4276-A257-F67A12B2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10305" y="31802"/>
              <a:ext cx="3763077" cy="2110194"/>
            </a:xfrm>
            <a:custGeom>
              <a:avLst/>
              <a:gdLst>
                <a:gd name="connsiteX0" fmla="*/ 1950434 w 2095685"/>
                <a:gd name="connsiteY0" fmla="*/ 0 h 1175182"/>
                <a:gd name="connsiteX1" fmla="*/ 2077307 w 2095685"/>
                <a:gd name="connsiteY1" fmla="*/ 479108 h 1175182"/>
                <a:gd name="connsiteX2" fmla="*/ 2089309 w 2095685"/>
                <a:gd name="connsiteY2" fmla="*/ 826008 h 1175182"/>
                <a:gd name="connsiteX3" fmla="*/ 1987582 w 2095685"/>
                <a:gd name="connsiteY3" fmla="*/ 1101185 h 1175182"/>
                <a:gd name="connsiteX4" fmla="*/ 1818037 w 2095685"/>
                <a:gd name="connsiteY4" fmla="*/ 1173004 h 1175182"/>
                <a:gd name="connsiteX5" fmla="*/ 1694402 w 2095685"/>
                <a:gd name="connsiteY5" fmla="*/ 1157097 h 1175182"/>
                <a:gd name="connsiteX6" fmla="*/ 1594676 w 2095685"/>
                <a:gd name="connsiteY6" fmla="*/ 1013555 h 1175182"/>
                <a:gd name="connsiteX7" fmla="*/ 1664494 w 2095685"/>
                <a:gd name="connsiteY7" fmla="*/ 790289 h 1175182"/>
                <a:gd name="connsiteX8" fmla="*/ 1684401 w 2095685"/>
                <a:gd name="connsiteY8" fmla="*/ 527114 h 1175182"/>
                <a:gd name="connsiteX9" fmla="*/ 1550765 w 2095685"/>
                <a:gd name="connsiteY9" fmla="*/ 343662 h 1175182"/>
                <a:gd name="connsiteX10" fmla="*/ 1315402 w 2095685"/>
                <a:gd name="connsiteY10" fmla="*/ 265938 h 1175182"/>
                <a:gd name="connsiteX11" fmla="*/ 876586 w 2095685"/>
                <a:gd name="connsiteY11" fmla="*/ 200120 h 1175182"/>
                <a:gd name="connsiteX12" fmla="*/ 591312 w 2095685"/>
                <a:gd name="connsiteY12" fmla="*/ 186119 h 1175182"/>
                <a:gd name="connsiteX13" fmla="*/ 0 w 2095685"/>
                <a:gd name="connsiteY13" fmla="*/ 16669 h 1175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095685" h="1175182">
                  <a:moveTo>
                    <a:pt x="1950434" y="0"/>
                  </a:moveTo>
                  <a:cubicBezTo>
                    <a:pt x="1973485" y="77629"/>
                    <a:pt x="2063115" y="399383"/>
                    <a:pt x="2077307" y="479108"/>
                  </a:cubicBezTo>
                  <a:cubicBezTo>
                    <a:pt x="2097786" y="593693"/>
                    <a:pt x="2100167" y="710089"/>
                    <a:pt x="2089309" y="826008"/>
                  </a:cubicBezTo>
                  <a:cubicBezTo>
                    <a:pt x="2079784" y="927545"/>
                    <a:pt x="2061401" y="1032891"/>
                    <a:pt x="1987582" y="1101185"/>
                  </a:cubicBezTo>
                  <a:cubicBezTo>
                    <a:pt x="1941481" y="1143762"/>
                    <a:pt x="1880616" y="1165670"/>
                    <a:pt x="1818037" y="1173004"/>
                  </a:cubicBezTo>
                  <a:cubicBezTo>
                    <a:pt x="1775746" y="1177957"/>
                    <a:pt x="1732693" y="1175195"/>
                    <a:pt x="1694402" y="1157097"/>
                  </a:cubicBezTo>
                  <a:cubicBezTo>
                    <a:pt x="1638110" y="1130427"/>
                    <a:pt x="1600295" y="1075373"/>
                    <a:pt x="1594676" y="1013555"/>
                  </a:cubicBezTo>
                  <a:cubicBezTo>
                    <a:pt x="1587532" y="934879"/>
                    <a:pt x="1635633" y="864870"/>
                    <a:pt x="1664494" y="790289"/>
                  </a:cubicBezTo>
                  <a:cubicBezTo>
                    <a:pt x="1696974" y="706279"/>
                    <a:pt x="1708594" y="613791"/>
                    <a:pt x="1684401" y="527114"/>
                  </a:cubicBezTo>
                  <a:cubicBezTo>
                    <a:pt x="1663351" y="451580"/>
                    <a:pt x="1616488" y="386620"/>
                    <a:pt x="1550765" y="343662"/>
                  </a:cubicBezTo>
                  <a:cubicBezTo>
                    <a:pt x="1480947" y="298133"/>
                    <a:pt x="1397508" y="282131"/>
                    <a:pt x="1315402" y="265938"/>
                  </a:cubicBezTo>
                  <a:cubicBezTo>
                    <a:pt x="1170051" y="237173"/>
                    <a:pt x="1024128" y="212027"/>
                    <a:pt x="876586" y="200120"/>
                  </a:cubicBezTo>
                  <a:cubicBezTo>
                    <a:pt x="781717" y="192500"/>
                    <a:pt x="686276" y="193643"/>
                    <a:pt x="591312" y="186119"/>
                  </a:cubicBezTo>
                  <a:cubicBezTo>
                    <a:pt x="465296" y="176213"/>
                    <a:pt x="160211" y="193453"/>
                    <a:pt x="0" y="16669"/>
                  </a:cubicBezTo>
                </a:path>
              </a:pathLst>
            </a:custGeom>
            <a:noFill/>
            <a:ln w="9525" cap="rnd">
              <a:solidFill>
                <a:schemeClr val="accent2">
                  <a:alpha val="35000"/>
                </a:schemeClr>
              </a:solidFill>
              <a:prstDash val="lgDash"/>
              <a:round/>
            </a:ln>
          </p:spPr>
          <p:txBody>
            <a:bodyPr rtlCol="0" anchor="ctr"/>
            <a:lstStyle/>
            <a:p>
              <a:endParaRPr lang="en-US"/>
            </a:p>
          </p:txBody>
        </p:sp>
      </p:grpSp>
      <p:grpSp>
        <p:nvGrpSpPr>
          <p:cNvPr id="167" name="Bottom Right">
            <a:extLst>
              <a:ext uri="{FF2B5EF4-FFF2-40B4-BE49-F238E27FC236}">
                <a16:creationId xmlns:a16="http://schemas.microsoft.com/office/drawing/2014/main" id="{88540B56-6256-419C-AC81-7B56D0DD72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980400" y="3276601"/>
            <a:ext cx="4211600" cy="3581399"/>
            <a:chOff x="7980400" y="3276601"/>
            <a:chExt cx="4211600" cy="3581399"/>
          </a:xfrm>
        </p:grpSpPr>
        <p:sp>
          <p:nvSpPr>
            <p:cNvPr id="61" name="Freeform: Shape 60">
              <a:extLst>
                <a:ext uri="{FF2B5EF4-FFF2-40B4-BE49-F238E27FC236}">
                  <a16:creationId xmlns:a16="http://schemas.microsoft.com/office/drawing/2014/main" id="{EB5E9C2F-6749-4023-8E94-45C1C3FC6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39256" y="6178637"/>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lumMod val="65000"/>
                    <a:lumOff val="35000"/>
                  </a:schemeClr>
                </a:solidFill>
                <a:latin typeface="AvenirNext LT Pro Medium" panose="020B0504020202020204" pitchFamily="34" charset="0"/>
              </a:endParaRPr>
            </a:p>
          </p:txBody>
        </p:sp>
        <p:grpSp>
          <p:nvGrpSpPr>
            <p:cNvPr id="62" name="Graphic 157">
              <a:extLst>
                <a:ext uri="{FF2B5EF4-FFF2-40B4-BE49-F238E27FC236}">
                  <a16:creationId xmlns:a16="http://schemas.microsoft.com/office/drawing/2014/main" id="{D87C11F9-4A6E-44BC-BF6C-0468EFD71B2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662740" y="3276601"/>
              <a:ext cx="3529260" cy="3581398"/>
              <a:chOff x="4114800" y="1423987"/>
              <a:chExt cx="3961542" cy="4007547"/>
            </a:xfrm>
            <a:noFill/>
          </p:grpSpPr>
          <p:sp>
            <p:nvSpPr>
              <p:cNvPr id="64" name="Freeform: Shape 63">
                <a:extLst>
                  <a:ext uri="{FF2B5EF4-FFF2-40B4-BE49-F238E27FC236}">
                    <a16:creationId xmlns:a16="http://schemas.microsoft.com/office/drawing/2014/main" id="{2B1B9F72-6727-48A7-A229-1B9E8620C6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35000"/>
                  </a:schemeClr>
                </a:solidFill>
                <a:prstDash val="lgDash"/>
                <a:round/>
              </a:ln>
            </p:spPr>
            <p:txBody>
              <a:bodyPr rtlCol="0" anchor="ctr"/>
              <a:lstStyle/>
              <a:p>
                <a:endParaRPr lang="en-US"/>
              </a:p>
            </p:txBody>
          </p:sp>
          <p:sp>
            <p:nvSpPr>
              <p:cNvPr id="65" name="Freeform: Shape 64">
                <a:extLst>
                  <a:ext uri="{FF2B5EF4-FFF2-40B4-BE49-F238E27FC236}">
                    <a16:creationId xmlns:a16="http://schemas.microsoft.com/office/drawing/2014/main" id="{F112D38F-1CDF-4293-96FC-2190D0395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35000"/>
                  </a:schemeClr>
                </a:solidFill>
                <a:prstDash val="lgDash"/>
                <a:round/>
              </a:ln>
            </p:spPr>
            <p:txBody>
              <a:bodyPr rtlCol="0" anchor="ctr"/>
              <a:lstStyle/>
              <a:p>
                <a:endParaRPr lang="en-US"/>
              </a:p>
            </p:txBody>
          </p:sp>
          <p:sp>
            <p:nvSpPr>
              <p:cNvPr id="66" name="Freeform: Shape 65">
                <a:extLst>
                  <a:ext uri="{FF2B5EF4-FFF2-40B4-BE49-F238E27FC236}">
                    <a16:creationId xmlns:a16="http://schemas.microsoft.com/office/drawing/2014/main" id="{CF3E4DE9-57D9-4C4C-BE4E-7F081A1B3B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35000"/>
                  </a:schemeClr>
                </a:solidFill>
                <a:prstDash val="lgDash"/>
                <a:round/>
              </a:ln>
            </p:spPr>
            <p:txBody>
              <a:bodyPr rtlCol="0" anchor="ctr"/>
              <a:lstStyle/>
              <a:p>
                <a:endParaRPr lang="en-US"/>
              </a:p>
            </p:txBody>
          </p:sp>
          <p:sp>
            <p:nvSpPr>
              <p:cNvPr id="67" name="Freeform: Shape 66">
                <a:extLst>
                  <a:ext uri="{FF2B5EF4-FFF2-40B4-BE49-F238E27FC236}">
                    <a16:creationId xmlns:a16="http://schemas.microsoft.com/office/drawing/2014/main" id="{6BB673C9-C994-4CA3-B78E-F65C5F8C61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8" name="Freeform: Shape 67">
                <a:extLst>
                  <a:ext uri="{FF2B5EF4-FFF2-40B4-BE49-F238E27FC236}">
                    <a16:creationId xmlns:a16="http://schemas.microsoft.com/office/drawing/2014/main" id="{9B6FF51D-0B4A-4C30-AEC8-D66E88C98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35000"/>
                  </a:schemeClr>
                </a:solidFill>
                <a:prstDash val="lgDash"/>
                <a:round/>
              </a:ln>
            </p:spPr>
            <p:txBody>
              <a:bodyPr rtlCol="0" anchor="ctr"/>
              <a:lstStyle/>
              <a:p>
                <a:endParaRPr lang="en-US"/>
              </a:p>
            </p:txBody>
          </p:sp>
          <p:sp>
            <p:nvSpPr>
              <p:cNvPr id="69" name="Freeform: Shape 68">
                <a:extLst>
                  <a:ext uri="{FF2B5EF4-FFF2-40B4-BE49-F238E27FC236}">
                    <a16:creationId xmlns:a16="http://schemas.microsoft.com/office/drawing/2014/main" id="{DCF516A0-FBBD-4A87-9E93-708625DE5E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35000"/>
                  </a:schemeClr>
                </a:solidFill>
                <a:prstDash val="lgDash"/>
                <a:round/>
              </a:ln>
            </p:spPr>
            <p:txBody>
              <a:bodyPr rtlCol="0" anchor="ctr"/>
              <a:lstStyle/>
              <a:p>
                <a:endParaRPr lang="en-US"/>
              </a:p>
            </p:txBody>
          </p:sp>
          <p:sp>
            <p:nvSpPr>
              <p:cNvPr id="70" name="Freeform: Shape 69">
                <a:extLst>
                  <a:ext uri="{FF2B5EF4-FFF2-40B4-BE49-F238E27FC236}">
                    <a16:creationId xmlns:a16="http://schemas.microsoft.com/office/drawing/2014/main" id="{6F1EDD83-3119-40A9-B093-626EB1B126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35000"/>
                  </a:schemeClr>
                </a:solidFill>
                <a:prstDash val="lgDash"/>
                <a:round/>
              </a:ln>
            </p:spPr>
            <p:txBody>
              <a:bodyPr rtlCol="0" anchor="ctr"/>
              <a:lstStyle/>
              <a:p>
                <a:endParaRPr lang="en-US"/>
              </a:p>
            </p:txBody>
          </p:sp>
        </p:grpSp>
        <p:sp>
          <p:nvSpPr>
            <p:cNvPr id="63" name="Freeform: Shape 62">
              <a:extLst>
                <a:ext uri="{FF2B5EF4-FFF2-40B4-BE49-F238E27FC236}">
                  <a16:creationId xmlns:a16="http://schemas.microsoft.com/office/drawing/2014/main" id="{BA5F46DB-9B25-49AD-BC98-191E88919E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80400"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TextBox 2">
            <a:extLst>
              <a:ext uri="{FF2B5EF4-FFF2-40B4-BE49-F238E27FC236}">
                <a16:creationId xmlns:a16="http://schemas.microsoft.com/office/drawing/2014/main" id="{8BE460C0-3FE1-DF4F-085B-DEDE144CC214}"/>
              </a:ext>
            </a:extLst>
          </p:cNvPr>
          <p:cNvSpPr txBox="1"/>
          <p:nvPr/>
        </p:nvSpPr>
        <p:spPr>
          <a:xfrm>
            <a:off x="994404" y="731041"/>
            <a:ext cx="10191942" cy="3173034"/>
          </a:xfrm>
          <a:prstGeom prst="rect">
            <a:avLst/>
          </a:prstGeom>
        </p:spPr>
        <p:txBody>
          <a:bodyPr vert="horz" lIns="91440" tIns="45720" rIns="91440" bIns="45720" rtlCol="0" anchor="b">
            <a:normAutofit/>
          </a:bodyPr>
          <a:lstStyle/>
          <a:p>
            <a:pPr algn="ctr">
              <a:spcBef>
                <a:spcPct val="0"/>
              </a:spcBef>
              <a:spcAft>
                <a:spcPts val="600"/>
              </a:spcAft>
            </a:pPr>
            <a:r>
              <a:rPr lang="en-US" sz="6600" kern="1200">
                <a:solidFill>
                  <a:schemeClr val="tx2"/>
                </a:solidFill>
                <a:latin typeface="+mj-lt"/>
                <a:ea typeface="+mj-ea"/>
                <a:cs typeface="+mj-cs"/>
              </a:rPr>
              <a:t>THANK YOU</a:t>
            </a:r>
          </a:p>
        </p:txBody>
      </p:sp>
      <p:grpSp>
        <p:nvGrpSpPr>
          <p:cNvPr id="72" name="Cross">
            <a:extLst>
              <a:ext uri="{FF2B5EF4-FFF2-40B4-BE49-F238E27FC236}">
                <a16:creationId xmlns:a16="http://schemas.microsoft.com/office/drawing/2014/main" id="{DDB99EF5-8801-40E2-83D3-196FADCBBA7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30939" y="3874229"/>
            <a:ext cx="118872" cy="118872"/>
            <a:chOff x="1175347" y="3733800"/>
            <a:chExt cx="118872" cy="118872"/>
          </a:xfrm>
        </p:grpSpPr>
        <p:cxnSp>
          <p:nvCxnSpPr>
            <p:cNvPr id="73" name="Straight Connector 72">
              <a:extLst>
                <a:ext uri="{FF2B5EF4-FFF2-40B4-BE49-F238E27FC236}">
                  <a16:creationId xmlns:a16="http://schemas.microsoft.com/office/drawing/2014/main" id="{50FE3A76-C0EC-41F2-92AD-1A75BA3771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234783" y="3733800"/>
              <a:ext cx="0" cy="118872"/>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cxnSp>
          <p:nvCxnSpPr>
            <p:cNvPr id="74" name="Straight Connector 73">
              <a:extLst>
                <a:ext uri="{FF2B5EF4-FFF2-40B4-BE49-F238E27FC236}">
                  <a16:creationId xmlns:a16="http://schemas.microsoft.com/office/drawing/2014/main" id="{C22AF00A-AACB-4D06-A706-4231FD4EC6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1175347" y="3793236"/>
              <a:ext cx="118872" cy="0"/>
            </a:xfrm>
            <a:prstGeom prst="line">
              <a:avLst/>
            </a:prstGeom>
            <a:ln w="12700">
              <a:solidFill>
                <a:schemeClr val="accent5"/>
              </a:solidFill>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3981575461"/>
      </p:ext>
    </p:extLst>
  </p:cSld>
  <p:clrMapOvr>
    <a:masterClrMapping/>
  </p:clrMapOvr>
</p:sld>
</file>

<file path=ppt/theme/theme1.xml><?xml version="1.0" encoding="utf-8"?>
<a:theme xmlns:a="http://schemas.openxmlformats.org/drawingml/2006/main" name="ExploreVTI">
  <a:themeElements>
    <a:clrScheme name="AnalogousFromLightSeedRightStep">
      <a:dk1>
        <a:srgbClr val="000000"/>
      </a:dk1>
      <a:lt1>
        <a:srgbClr val="FFFFFF"/>
      </a:lt1>
      <a:dk2>
        <a:srgbClr val="3D3522"/>
      </a:dk2>
      <a:lt2>
        <a:srgbClr val="E2E6E8"/>
      </a:lt2>
      <a:accent1>
        <a:srgbClr val="C89785"/>
      </a:accent1>
      <a:accent2>
        <a:srgbClr val="B59F6F"/>
      </a:accent2>
      <a:accent3>
        <a:srgbClr val="A2A776"/>
      </a:accent3>
      <a:accent4>
        <a:srgbClr val="8AAC6A"/>
      </a:accent4>
      <a:accent5>
        <a:srgbClr val="7CAF78"/>
      </a:accent5>
      <a:accent6>
        <a:srgbClr val="6DB285"/>
      </a:accent6>
      <a:hlink>
        <a:srgbClr val="5D8A9A"/>
      </a:hlink>
      <a:folHlink>
        <a:srgbClr val="7F7F7F"/>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docProps/app.xml><?xml version="1.0" encoding="utf-8"?>
<Properties xmlns="http://schemas.openxmlformats.org/officeDocument/2006/extended-properties" xmlns:vt="http://schemas.openxmlformats.org/officeDocument/2006/docPropsVTypes">
  <TotalTime>1950</TotalTime>
  <Words>1096</Words>
  <Application>Microsoft Office PowerPoint</Application>
  <PresentationFormat>Widescreen</PresentationFormat>
  <Paragraphs>116</Paragraphs>
  <Slides>23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Avenir Next LT Pro</vt:lpstr>
      <vt:lpstr>AvenirNext LT Pro Medium</vt:lpstr>
      <vt:lpstr>Posterama</vt:lpstr>
      <vt:lpstr>Raleway</vt:lpstr>
      <vt:lpstr>Roboto</vt:lpstr>
      <vt:lpstr>Segoe UI Semilight</vt:lpstr>
      <vt:lpstr>Söhne</vt:lpstr>
      <vt:lpstr>Times New Roman</vt:lpstr>
      <vt:lpstr>ExploreVTI</vt:lpstr>
      <vt:lpstr>Customer Segmentation with Pyspark</vt:lpstr>
      <vt:lpstr>Introduction</vt:lpstr>
      <vt:lpstr>Objectives</vt:lpstr>
      <vt:lpstr>Description of Dataset</vt:lpstr>
      <vt:lpstr>EDA</vt:lpstr>
      <vt:lpstr>Categorical Analysis</vt:lpstr>
      <vt:lpstr>RFM Analysis</vt:lpstr>
      <vt:lpstr>RFM Analysis</vt:lpstr>
      <vt:lpstr>RFM Analysis</vt:lpstr>
      <vt:lpstr>Building a Model</vt:lpstr>
      <vt:lpstr>Elbow method for optimal k</vt:lpstr>
      <vt:lpstr>Cluster Visualization</vt:lpstr>
      <vt:lpstr>Cluster Analysis and Results</vt:lpstr>
      <vt:lpstr>PowerPoint Presentation</vt:lpstr>
      <vt:lpstr>System Architecture / Workflow</vt:lpstr>
      <vt:lpstr>Streamlit Application Overview”</vt:lpstr>
      <vt:lpstr>Dashboard – Customer Overview</vt:lpstr>
      <vt:lpstr>Dashboard – Customer Overview</vt:lpstr>
      <vt:lpstr>Integration of ML Model with Dashboard</vt:lpstr>
      <vt:lpstr>Conclusion</vt:lpstr>
      <vt:lpstr>Conclusion</vt:lpstr>
      <vt:lpstr>Business Impact &amp; Benefits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Segmentation for Personalized Marketing Strategies with Pyspark</dc:title>
  <dc:creator>Kavya Sree Katepalli</dc:creator>
  <cp:lastModifiedBy>Krishna Chaithanya</cp:lastModifiedBy>
  <cp:revision>10</cp:revision>
  <dcterms:created xsi:type="dcterms:W3CDTF">2024-03-11T17:51:13Z</dcterms:created>
  <dcterms:modified xsi:type="dcterms:W3CDTF">2026-04-23T21:36:32Z</dcterms:modified>
</cp:coreProperties>
</file>